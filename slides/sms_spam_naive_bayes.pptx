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2aa0126-8a3d-60b3-d6c1-d31ae31cb706}">
          <p14:sldIdLst>
            <p14:sldId id="256"/>
            <p14:sldId id="257"/>
          </p14:sldIdLst>
        </p14:section>
        <p14:section name="Data" id="{859e7d02-1e95-4a9f-c8ef-89b6240559b5}">
          <p14:sldIdLst>
            <p14:sldId id="258"/>
          </p14:sldIdLst>
        </p14:section>
        <p14:section name="Method" id="{1c23a432-dad0-66e5-cf0c-33cc1a298425}">
          <p14:sldIdLst>
            <p14:sldId id="259"/>
          </p14:sldIdLst>
        </p14:section>
        <p14:section name="Results" id="{bffb2647-65ff-3853-ae5d-c6b7acfdce12}">
          <p14:sldIdLst>
            <p14:sldId id="260"/>
            <p14:sldId id="261"/>
            <p14:sldId id="262"/>
          </p14:sldIdLst>
        </p14:section>
        <p14:section name="Conclusion" id="{be9b9518-3e37-e1a3-1892-8dd4d91e70c9}">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4171C"/>
                </a:solidFill>
                <a:latin typeface="+mn-lt"/>
              </a:defRPr>
            </a:pPr>
            <a:r>
              <a:rPr sz="1400" b="1" i="0" u="none" strike="noStrike">
                <a:solidFill>
                  <a:srgbClr val="14171C"/>
                </a:solidFill>
                <a:latin typeface="+mn-lt"/>
              </a:rPr>
              <a:t>Share of each class, by message length in characters</a:t>
            </a:r>
          </a:p>
        </c:rich>
      </c:tx>
      <c:layout/>
      <c:overlay val="0"/>
    </c:title>
    <c:autoTitleDeleted val="0"/>
    <c:plotArea>
      <c:layout/>
      <c:barChart>
        <c:barDir val="col"/>
        <c:grouping val="clustered"/>
        <c:varyColors val="0"/>
        <c:ser>
          <c:idx val="0"/>
          <c:order val="0"/>
          <c:tx>
            <c:strRef>
              <c:f>Sheet1!$B$1</c:f>
              <c:strCache>
                <c:ptCount val="1"/>
                <c:pt idx="0">
                  <c:v>Ham</c:v>
                </c:pt>
              </c:strCache>
            </c:strRef>
          </c:tx>
          <c:spPr>
            <a:solidFill>
              <a:schemeClr val="accent1"/>
            </a:solidFill>
            <a:effectLst/>
          </c:spPr>
          <c:invertIfNegative val="0"/>
          <c:dLbls>
            <c:numFmt formatCode="#,##0" sourceLinked="0"/>
            <c:txPr>
              <a:bodyPr/>
              <a:lstStyle/>
              <a:p>
                <a:pPr>
                  <a:defRPr b="0" i="0" strike="noStrike" sz="1200" u="none">
                    <a:solidFill>
                      <a:srgbClr val="52514E"/>
                    </a:solidFill>
                    <a:latin typeface="+mn-lt"/>
                  </a:defRPr>
                </a:pPr>
              </a:p>
            </c:txPr>
            <c:showLegendKey val="0"/>
            <c:showVal val="0"/>
            <c:showCatName val="0"/>
            <c:showSerName val="0"/>
            <c:showPercent val="0"/>
            <c:showBubbleSize val="0"/>
            <c:showLeaderLines val="0"/>
          </c:dLbls>
          <c:cat>
            <c:multiLvlStrRef>
              <c:f>Sheet1!$A$2:$A$12</c:f>
              <c:multiLvlStrCache>
                <c:ptCount val="11"/>
                <c:lvl>
                  <c:pt idx="0">
                    <c:v>0-19</c:v>
                  </c:pt>
                  <c:pt idx="1">
                    <c:v>20-39</c:v>
                  </c:pt>
                  <c:pt idx="2">
                    <c:v>40-59</c:v>
                  </c:pt>
                  <c:pt idx="3">
                    <c:v>60-79</c:v>
                  </c:pt>
                  <c:pt idx="4">
                    <c:v>80-99</c:v>
                  </c:pt>
                  <c:pt idx="5">
                    <c:v>100-119</c:v>
                  </c:pt>
                  <c:pt idx="6">
                    <c:v>120-139</c:v>
                  </c:pt>
                  <c:pt idx="7">
                    <c:v>140-159</c:v>
                  </c:pt>
                  <c:pt idx="8">
                    <c:v>160-179</c:v>
                  </c:pt>
                  <c:pt idx="9">
                    <c:v>180-199</c:v>
                  </c:pt>
                  <c:pt idx="10">
                    <c:v>200+</c:v>
                  </c:pt>
                </c:lvl>
              </c:multiLvlStrCache>
            </c:multiLvlStrRef>
          </c:cat>
          <c:val>
            <c:numRef>
              <c:f>Sheet1!$B$2:$B$12</c:f>
              <c:numCache>
                <c:formatCode>General</c:formatCode>
                <c:ptCount val="11"/>
                <c:pt idx="0">
                  <c:v>0.02850027670171555</c:v>
                </c:pt>
                <c:pt idx="1">
                  <c:v>0.3209739900387382</c:v>
                </c:pt>
                <c:pt idx="2">
                  <c:v>0.21555063641394576</c:v>
                </c:pt>
                <c:pt idx="3">
                  <c:v>0.13198671831765357</c:v>
                </c:pt>
                <c:pt idx="4">
                  <c:v>0.08577753182069729</c:v>
                </c:pt>
                <c:pt idx="5">
                  <c:v>0.05755395683453238</c:v>
                </c:pt>
                <c:pt idx="6">
                  <c:v>0.05285002767017156</c:v>
                </c:pt>
                <c:pt idx="7">
                  <c:v>0.0630879911455451</c:v>
                </c:pt>
                <c:pt idx="8">
                  <c:v>0.014111787493082457</c:v>
                </c:pt>
                <c:pt idx="9">
                  <c:v>0.007470946319867183</c:v>
                </c:pt>
                <c:pt idx="10">
                  <c:v>0.02213613724405091</c:v>
                </c:pt>
              </c:numCache>
            </c:numRef>
          </c:val>
        </c:ser>
        <c:ser>
          <c:idx val="1"/>
          <c:order val="1"/>
          <c:tx>
            <c:strRef>
              <c:f>Sheet1!$C$1</c:f>
              <c:strCache>
                <c:ptCount val="1"/>
                <c:pt idx="0">
                  <c:v>Spam</c:v>
                </c:pt>
              </c:strCache>
            </c:strRef>
          </c:tx>
          <c:spPr>
            <a:solidFill>
              <a:schemeClr val="accent2"/>
            </a:solidFill>
            <a:effectLst/>
          </c:spPr>
          <c:invertIfNegative val="0"/>
          <c:dLbls>
            <c:numFmt formatCode="#,##0" sourceLinked="0"/>
            <c:txPr>
              <a:bodyPr/>
              <a:lstStyle/>
              <a:p>
                <a:pPr>
                  <a:defRPr b="0" i="0" strike="noStrike" sz="1200" u="none">
                    <a:solidFill>
                      <a:srgbClr val="52514E"/>
                    </a:solidFill>
                    <a:latin typeface="+mn-lt"/>
                  </a:defRPr>
                </a:pPr>
              </a:p>
            </c:txPr>
            <c:showLegendKey val="0"/>
            <c:showVal val="0"/>
            <c:showCatName val="0"/>
            <c:showSerName val="0"/>
            <c:showPercent val="0"/>
            <c:showBubbleSize val="0"/>
            <c:showLeaderLines val="0"/>
          </c:dLbls>
          <c:cat>
            <c:multiLvlStrRef>
              <c:f>Sheet1!$A$2:$A$12</c:f>
              <c:multiLvlStrCache>
                <c:ptCount val="11"/>
                <c:lvl>
                  <c:pt idx="0">
                    <c:v>0-19</c:v>
                  </c:pt>
                  <c:pt idx="1">
                    <c:v>20-39</c:v>
                  </c:pt>
                  <c:pt idx="2">
                    <c:v>40-59</c:v>
                  </c:pt>
                  <c:pt idx="3">
                    <c:v>60-79</c:v>
                  </c:pt>
                  <c:pt idx="4">
                    <c:v>80-99</c:v>
                  </c:pt>
                  <c:pt idx="5">
                    <c:v>100-119</c:v>
                  </c:pt>
                  <c:pt idx="6">
                    <c:v>120-139</c:v>
                  </c:pt>
                  <c:pt idx="7">
                    <c:v>140-159</c:v>
                  </c:pt>
                  <c:pt idx="8">
                    <c:v>160-179</c:v>
                  </c:pt>
                  <c:pt idx="9">
                    <c:v>180-199</c:v>
                  </c:pt>
                  <c:pt idx="10">
                    <c:v>200+</c:v>
                  </c:pt>
                </c:lvl>
              </c:multiLvlStrCache>
            </c:multiLvlStrRef>
          </c:cat>
          <c:val>
            <c:numRef>
              <c:f>Sheet1!$C$2:$C$12</c:f>
              <c:numCache>
                <c:formatCode>General</c:formatCode>
                <c:ptCount val="11"/>
                <c:pt idx="0">
                  <c:v>0.001949317738791423</c:v>
                </c:pt>
                <c:pt idx="1">
                  <c:v>0.011695906432748537</c:v>
                </c:pt>
                <c:pt idx="2">
                  <c:v>0.025341130604288498</c:v>
                </c:pt>
                <c:pt idx="3">
                  <c:v>0.03898635477582846</c:v>
                </c:pt>
                <c:pt idx="4">
                  <c:v>0.02729044834307992</c:v>
                </c:pt>
                <c:pt idx="5">
                  <c:v>0.08187134502923976</c:v>
                </c:pt>
                <c:pt idx="6">
                  <c:v>0.16764132553606237</c:v>
                </c:pt>
                <c:pt idx="7">
                  <c:v>0.5146198830409356</c:v>
                </c:pt>
                <c:pt idx="8">
                  <c:v>0.12085769980506822</c:v>
                </c:pt>
                <c:pt idx="9">
                  <c:v>0.007797270955165692</c:v>
                </c:pt>
                <c:pt idx="10">
                  <c:v>0.001949317738791423</c:v>
                </c:pt>
              </c:numCache>
            </c:numRef>
          </c:val>
        </c:ser>
        <c:dLbls>
          <c:numFmt formatCode="#,##0" sourceLinked="0"/>
          <c:txPr>
            <a:bodyPr/>
            <a:lstStyle/>
            <a:p>
              <a:pPr>
                <a:defRPr b="0" i="0" strike="noStrike" sz="1200" u="none">
                  <a:solidFill>
                    <a:srgbClr val="52514E"/>
                  </a:solidFill>
                  <a:latin typeface="+mn-lt"/>
                </a:defRPr>
              </a:pPr>
            </a:p>
          </c:txPr>
          <c:showLegendKey val="0"/>
          <c:showVal val="0"/>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3C2B7"/>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52514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4171C"/>
                </a:solidFill>
                <a:latin typeface="+mn-lt"/>
              </a:defRPr>
            </a:pPr>
            <a:r>
              <a:rPr sz="1400" b="1" i="0" u="none" strike="noStrike">
                <a:solidFill>
                  <a:srgbClr val="14171C"/>
                </a:solidFill>
                <a:latin typeface="+mn-lt"/>
              </a:rPr>
              <a:t>F1 on 1,032 unseen test messages (blue = final filter)</a:t>
            </a:r>
          </a:p>
        </c:rich>
      </c:tx>
      <c:layout/>
      <c:overlay val="0"/>
    </c:title>
    <c:autoTitleDeleted val="0"/>
    <c:plotArea>
      <c:layout/>
      <c:barChart>
        <c:barDir val="bar"/>
        <c:grouping val="clustered"/>
        <c:varyColors val="0"/>
        <c:ser>
          <c:idx val="0"/>
          <c:order val="0"/>
          <c:tx>
            <c:strRef>
              <c:f>Sheet1!$B$1</c:f>
              <c:strCache>
                <c:ptCount val="1"/>
                <c:pt idx="0">
                  <c:v>F1</c:v>
                </c:pt>
              </c:strCache>
            </c:strRef>
          </c:tx>
          <c:spPr>
            <a:solidFill>
              <a:srgbClr val="C3C2B7"/>
            </a:solidFill>
            <a:effectLst/>
          </c:spPr>
          <c:invertIfNegative val="0"/>
          <c:dLbls>
            <c:numFmt formatCode="0.00" sourceLinked="0"/>
            <c:txPr>
              <a:bodyPr/>
              <a:lstStyle/>
              <a:p>
                <a:pPr>
                  <a:defRPr b="0" i="0" strike="noStrike" sz="1200" u="none">
                    <a:solidFill>
                      <a:srgbClr val="52514E"/>
                    </a:solidFill>
                    <a:latin typeface="+mn-lt"/>
                  </a:defRPr>
                </a:pPr>
              </a:p>
            </c:txPr>
            <c:showLegendKey val="0"/>
            <c:showVal val="1"/>
            <c:showCatName val="0"/>
            <c:showSerName val="0"/>
            <c:showPercent val="0"/>
            <c:showBubbleSize val="0"/>
            <c:showLeaderLines val="0"/>
          </c:dLbls>
          <c:dPt>
            <c:idx val="0"/>
            <c:invertIfNegative val="0"/>
            <c:bubble3D val="0"/>
            <c:spPr>
              <a:solidFill>
                <a:srgbClr val="C3C2B7"/>
              </a:solidFill>
              <a:effectLst/>
            </c:spPr>
          </c:dPt>
          <c:dPt>
            <c:idx val="1"/>
            <c:invertIfNegative val="0"/>
            <c:bubble3D val="0"/>
            <c:spPr>
              <a:solidFill>
                <a:srgbClr val="C3C2B7"/>
              </a:solidFill>
              <a:effectLst/>
            </c:spPr>
          </c:dPt>
          <c:dPt>
            <c:idx val="2"/>
            <c:invertIfNegative val="0"/>
            <c:bubble3D val="0"/>
            <c:spPr>
              <a:solidFill>
                <a:srgbClr val="C3C2B7"/>
              </a:solidFill>
              <a:effectLst/>
            </c:spPr>
          </c:dPt>
          <c:dPt>
            <c:idx val="3"/>
            <c:invertIfNegative val="0"/>
            <c:bubble3D val="0"/>
            <c:spPr>
              <a:solidFill>
                <a:srgbClr val="C3C2B7"/>
              </a:solidFill>
              <a:effectLst/>
            </c:spPr>
          </c:dPt>
          <c:dPt>
            <c:idx val="4"/>
            <c:invertIfNegative val="0"/>
            <c:bubble3D val="0"/>
            <c:spPr>
              <a:solidFill>
                <a:srgbClr val="2A78D6"/>
              </a:solidFill>
              <a:effectLst/>
            </c:spPr>
          </c:dPt>
          <c:dPt>
            <c:idx val="5"/>
            <c:invertIfNegative val="0"/>
            <c:bubble3D val="0"/>
            <c:spPr>
              <a:solidFill>
                <a:srgbClr val="C3C2B7"/>
              </a:solidFill>
              <a:effectLst/>
            </c:spPr>
          </c:dPt>
          <c:cat>
            <c:multiLvlStrRef>
              <c:f>Sheet1!$A$2:$A$7</c:f>
              <c:multiLvlStrCache>
                <c:ptCount val="6"/>
                <c:lvl>
                  <c:pt idx="0">
                    <c:v>Gaussian NB · word counts</c:v>
                  </c:pt>
                  <c:pt idx="1">
                    <c:v>Gaussian NB · 8 message statistics</c:v>
                  </c:pt>
                  <c:pt idx="2">
                    <c:v>Logistic regression · word counts</c:v>
                  </c:pt>
                  <c:pt idx="3">
                    <c:v>Hybrid NB · words + statistics</c:v>
                  </c:pt>
                  <c:pt idx="4">
                    <c:v>Bernoulli NB · word presence</c:v>
                  </c:pt>
                  <c:pt idx="5">
                    <c:v>Multinomial NB · word counts</c:v>
                  </c:pt>
                </c:lvl>
              </c:multiLvlStrCache>
            </c:multiLvlStrRef>
          </c:cat>
          <c:val>
            <c:numRef>
              <c:f>Sheet1!$B$2:$B$7</c:f>
              <c:numCache>
                <c:formatCode>General</c:formatCode>
                <c:ptCount val="6"/>
                <c:pt idx="0">
                  <c:v>0.7945205479452054</c:v>
                </c:pt>
                <c:pt idx="1">
                  <c:v>0.8181818181818182</c:v>
                </c:pt>
                <c:pt idx="2">
                  <c:v>0.9128630705394191</c:v>
                </c:pt>
                <c:pt idx="3">
                  <c:v>0.9163346613545816</c:v>
                </c:pt>
                <c:pt idx="4">
                  <c:v>0.9333333333333333</c:v>
                </c:pt>
                <c:pt idx="5">
                  <c:v>0.9349593495934959</c:v>
                </c:pt>
              </c:numCache>
            </c:numRef>
          </c:val>
        </c:ser>
        <c:dLbls>
          <c:numFmt formatCode="0.00" sourceLinked="0"/>
          <c:txPr>
            <a:bodyPr/>
            <a:lstStyle/>
            <a:p>
              <a:pPr>
                <a:defRPr b="0" i="0" strike="noStrike" sz="1200" u="none">
                  <a:solidFill>
                    <a:srgbClr val="52514E"/>
                  </a:solidFill>
                  <a:latin typeface="+mn-lt"/>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C3C2B7"/>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9525" cap="flat">
              <a:solidFill>
                <a:srgbClr val="E1E0D9"/>
              </a:solidFill>
              <a:prstDash val="solid"/>
              <a:round/>
            </a:ln>
          </c:spPr>
        </c:majorGridlines>
        <c:numFmt formatCode="0.00" sourceLinked="0"/>
        <c:majorTickMark val="out"/>
        <c:minorTickMark val="none"/>
        <c:tickLblPos val="low"/>
        <c:spPr>
          <a:ln w="12700" cap="flat">
            <a:no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majorUnit val="0.2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4171C"/>
                </a:solidFill>
                <a:latin typeface="+mn-lt"/>
              </a:defRPr>
            </a:pPr>
            <a:r>
              <a:rPr sz="1400" b="1" i="0" u="none" strike="noStrike">
                <a:solidFill>
                  <a:srgbClr val="14171C"/>
                </a:solidFill>
                <a:latin typeface="+mn-lt"/>
              </a:rPr>
              <a:t>Errors on the test set (904 ham, 128 spam)</a:t>
            </a:r>
          </a:p>
        </c:rich>
      </c:tx>
      <c:layout/>
      <c:overlay val="0"/>
    </c:title>
    <c:autoTitleDeleted val="0"/>
    <c:plotArea>
      <c:layout/>
      <c:barChart>
        <c:barDir val="bar"/>
        <c:grouping val="clustered"/>
        <c:varyColors val="0"/>
        <c:ser>
          <c:idx val="0"/>
          <c:order val="0"/>
          <c:tx>
            <c:strRef>
              <c:f>Sheet1!$B$1</c:f>
              <c:strCache>
                <c:ptCount val="1"/>
                <c:pt idx="0">
                  <c:v>Ham flagged (false alarms)</c:v>
                </c:pt>
              </c:strCache>
            </c:strRef>
          </c:tx>
          <c:spPr>
            <a:solidFill>
              <a:schemeClr val="accent1"/>
            </a:solidFill>
            <a:effectLst/>
          </c:spPr>
          <c:invertIfNegative val="0"/>
          <c:dLbls>
            <c:numFmt formatCode="0" sourceLinked="0"/>
            <c:txPr>
              <a:bodyPr/>
              <a:lstStyle/>
              <a:p>
                <a:pPr>
                  <a:defRPr b="0" i="0" strike="noStrike" sz="1200" u="none">
                    <a:solidFill>
                      <a:srgbClr val="52514E"/>
                    </a:solidFill>
                    <a:latin typeface="+mn-lt"/>
                  </a:defRPr>
                </a:pPr>
              </a:p>
            </c:txPr>
            <c:showLegendKey val="0"/>
            <c:showVal val="1"/>
            <c:showCatName val="0"/>
            <c:showSerName val="0"/>
            <c:showPercent val="0"/>
            <c:showBubbleSize val="0"/>
            <c:showLeaderLines val="0"/>
          </c:dLbls>
          <c:cat>
            <c:multiLvlStrRef>
              <c:f>Sheet1!$A$2:$A$6</c:f>
              <c:multiLvlStrCache>
                <c:ptCount val="5"/>
                <c:lvl>
                  <c:pt idx="0">
                    <c:v>Hybrid NB · words + statistics</c:v>
                  </c:pt>
                  <c:pt idx="1">
                    <c:v>Gaussian NB · 8 message statistics</c:v>
                  </c:pt>
                  <c:pt idx="2">
                    <c:v>Gaussian NB · word counts</c:v>
                  </c:pt>
                  <c:pt idx="3">
                    <c:v>Multinomial NB · word counts</c:v>
                  </c:pt>
                  <c:pt idx="4">
                    <c:v>Bernoulli NB · word presence</c:v>
                  </c:pt>
                </c:lvl>
              </c:multiLvlStrCache>
            </c:multiLvlStrRef>
          </c:cat>
          <c:val>
            <c:numRef>
              <c:f>Sheet1!$B$2:$B$6</c:f>
              <c:numCache>
                <c:formatCode>General</c:formatCode>
                <c:ptCount val="5"/>
                <c:pt idx="0">
                  <c:v>8</c:v>
                </c:pt>
                <c:pt idx="1">
                  <c:v>28</c:v>
                </c:pt>
                <c:pt idx="2">
                  <c:v>4</c:v>
                </c:pt>
                <c:pt idx="3">
                  <c:v>3</c:v>
                </c:pt>
                <c:pt idx="4">
                  <c:v>0</c:v>
                </c:pt>
              </c:numCache>
            </c:numRef>
          </c:val>
        </c:ser>
        <c:ser>
          <c:idx val="1"/>
          <c:order val="1"/>
          <c:tx>
            <c:strRef>
              <c:f>Sheet1!$C$1</c:f>
              <c:strCache>
                <c:ptCount val="1"/>
                <c:pt idx="0">
                  <c:v>Spam missed</c:v>
                </c:pt>
              </c:strCache>
            </c:strRef>
          </c:tx>
          <c:spPr>
            <a:solidFill>
              <a:schemeClr val="accent2"/>
            </a:solidFill>
            <a:effectLst/>
          </c:spPr>
          <c:invertIfNegative val="0"/>
          <c:dLbls>
            <c:numFmt formatCode="0" sourceLinked="0"/>
            <c:txPr>
              <a:bodyPr/>
              <a:lstStyle/>
              <a:p>
                <a:pPr>
                  <a:defRPr b="0" i="0" strike="noStrike" sz="1200" u="none">
                    <a:solidFill>
                      <a:srgbClr val="52514E"/>
                    </a:solidFill>
                    <a:latin typeface="+mn-lt"/>
                  </a:defRPr>
                </a:pPr>
              </a:p>
            </c:txPr>
            <c:showLegendKey val="0"/>
            <c:showVal val="1"/>
            <c:showCatName val="0"/>
            <c:showSerName val="0"/>
            <c:showPercent val="0"/>
            <c:showBubbleSize val="0"/>
            <c:showLeaderLines val="0"/>
          </c:dLbls>
          <c:cat>
            <c:multiLvlStrRef>
              <c:f>Sheet1!$A$2:$A$6</c:f>
              <c:multiLvlStrCache>
                <c:ptCount val="5"/>
                <c:lvl>
                  <c:pt idx="0">
                    <c:v>Hybrid NB · words + statistics</c:v>
                  </c:pt>
                  <c:pt idx="1">
                    <c:v>Gaussian NB · 8 message statistics</c:v>
                  </c:pt>
                  <c:pt idx="2">
                    <c:v>Gaussian NB · word counts</c:v>
                  </c:pt>
                  <c:pt idx="3">
                    <c:v>Multinomial NB · word counts</c:v>
                  </c:pt>
                  <c:pt idx="4">
                    <c:v>Bernoulli NB · word presence</c:v>
                  </c:pt>
                </c:lvl>
              </c:multiLvlStrCache>
            </c:multiLvlStrRef>
          </c:cat>
          <c:val>
            <c:numRef>
              <c:f>Sheet1!$C$2:$C$6</c:f>
              <c:numCache>
                <c:formatCode>General</c:formatCode>
                <c:ptCount val="5"/>
                <c:pt idx="0">
                  <c:v>13</c:v>
                </c:pt>
                <c:pt idx="1">
                  <c:v>20</c:v>
                </c:pt>
                <c:pt idx="2">
                  <c:v>41</c:v>
                </c:pt>
                <c:pt idx="3">
                  <c:v>13</c:v>
                </c:pt>
                <c:pt idx="4">
                  <c:v>16</c:v>
                </c:pt>
              </c:numCache>
            </c:numRef>
          </c:val>
        </c:ser>
        <c:dLbls>
          <c:numFmt formatCode="0" sourceLinked="0"/>
          <c:txPr>
            <a:bodyPr/>
            <a:lstStyle/>
            <a:p>
              <a:pPr>
                <a:defRPr b="0" i="0" strike="noStrike" sz="1200" u="none">
                  <a:solidFill>
                    <a:srgbClr val="52514E"/>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C3C2B7"/>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50"/>
          <c:min val="0"/>
        </c:scaling>
        <c:delete val="0"/>
        <c:axPos val="b"/>
        <c:majorGridlines>
          <c:spPr>
            <a:ln w="9525" cap="flat">
              <a:solidFill>
                <a:srgbClr val="E1E0D9"/>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majorUnit val="10"/>
      </c:valAx>
      <c:spPr>
        <a:noFill/>
        <a:ln>
          <a:noFill/>
        </a:ln>
        <a:effectLst/>
      </c:spPr>
    </c:plotArea>
    <c:legend>
      <c:legendPos val="t"/>
      <c:overlay val="0"/>
      <c:txPr>
        <a:bodyPr/>
        <a:lstStyle/>
        <a:p>
          <a:pPr>
            <a:defRPr sz="1200">
              <a:solidFill>
                <a:srgbClr val="52514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4171C"/>
                </a:solidFill>
                <a:latin typeface="+mn-lt"/>
              </a:defRPr>
            </a:pPr>
            <a:r>
              <a:rPr sz="1400" b="1" i="0" u="none" strike="noStrike">
                <a:solidFill>
                  <a:srgbClr val="14171C"/>
                </a:solidFill>
                <a:latin typeface="+mn-lt"/>
              </a:rPr>
              <a:t>Times more frequent in spam than in ham</a:t>
            </a:r>
          </a:p>
        </c:rich>
      </c:tx>
      <c:layout/>
      <c:overlay val="0"/>
    </c:title>
    <c:autoTitleDeleted val="0"/>
    <c:plotArea>
      <c:layout/>
      <c:barChart>
        <c:barDir val="bar"/>
        <c:grouping val="clustered"/>
        <c:varyColors val="0"/>
        <c:ser>
          <c:idx val="0"/>
          <c:order val="0"/>
          <c:tx>
            <c:strRef>
              <c:f>Sheet1!$B$1</c:f>
              <c:strCache>
                <c:ptCount val="1"/>
                <c:pt idx="0">
                  <c:v>Times more frequent in spam than in ham</c:v>
                </c:pt>
              </c:strCache>
            </c:strRef>
          </c:tx>
          <c:spPr>
            <a:solidFill>
              <a:schemeClr val="accent2"/>
            </a:solidFill>
            <a:effectLst/>
          </c:spPr>
          <c:invertIfNegative val="0"/>
          <c:dLbls>
            <c:numFmt formatCode="\×#,##0" sourceLinked="0"/>
            <c:txPr>
              <a:bodyPr/>
              <a:lstStyle/>
              <a:p>
                <a:pPr>
                  <a:defRPr b="0" i="0" strike="noStrike" sz="1100" u="none">
                    <a:solidFill>
                      <a:srgbClr val="52514E"/>
                    </a:solidFill>
                    <a:latin typeface="+mn-lt"/>
                  </a:defRPr>
                </a:pPr>
              </a:p>
            </c:txPr>
            <c:showLegendKey val="0"/>
            <c:showVal val="1"/>
            <c:showCatName val="0"/>
            <c:showSerName val="0"/>
            <c:showPercent val="0"/>
            <c:showBubbleSize val="0"/>
            <c:showLeaderLines val="0"/>
          </c:dLbls>
          <c:cat>
            <c:multiLvlStrRef>
              <c:f>Sheet1!$A$2:$A$11</c:f>
              <c:multiLvlStrCache>
                <c:ptCount val="10"/>
                <c:lvl>
                  <c:pt idx="0">
                    <c:v>landline</c:v>
                  </c:pt>
                  <c:pt idx="1">
                    <c:v>awarded</c:v>
                  </c:pt>
                  <c:pt idx="2">
                    <c:v>ppm (pence/min)</c:v>
                  </c:pt>
                  <c:pt idx="3">
                    <c:v>cs (customer service)</c:v>
                  </c:pt>
                  <c:pt idx="4">
                    <c:v>tone (ringtone)</c:v>
                  </c:pt>
                  <c:pt idx="5">
                    <c:v>guaranteed</c:v>
                  </c:pt>
                  <c:pt idx="6">
                    <c:v>18 (age gate)</c:v>
                  </c:pt>
                  <c:pt idx="7">
                    <c:v>prize</c:v>
                  </c:pt>
                  <c:pt idx="8">
                    <c:v>claim</c:v>
                  </c:pt>
                  <c:pt idx="9">
                    <c:v>[phone number]</c:v>
                  </c:pt>
                </c:lvl>
              </c:multiLvlStrCache>
            </c:multiLvlStrRef>
          </c:cat>
          <c:val>
            <c:numRef>
              <c:f>Sheet1!$B$2:$B$11</c:f>
              <c:numCache>
                <c:formatCode>General</c:formatCode>
                <c:ptCount val="10"/>
                <c:pt idx="0">
                  <c:v>911.3377777777788</c:v>
                </c:pt>
                <c:pt idx="1">
                  <c:v>1108.5970370370383</c:v>
                </c:pt>
                <c:pt idx="2">
                  <c:v>1148.0488888888892</c:v>
                </c:pt>
                <c:pt idx="3">
                  <c:v>1148.0488888888892</c:v>
                </c:pt>
                <c:pt idx="4">
                  <c:v>1266.4044444444467</c:v>
                </c:pt>
                <c:pt idx="5">
                  <c:v>1384.7600000000014</c:v>
                </c:pt>
                <c:pt idx="6">
                  <c:v>1384.7600000000014</c:v>
                </c:pt>
                <c:pt idx="7">
                  <c:v>2528.8637037037033</c:v>
                </c:pt>
                <c:pt idx="8">
                  <c:v>3041.737777777778</c:v>
                </c:pt>
                <c:pt idx="9">
                  <c:v>19453.70814814814</c:v>
                </c:pt>
              </c:numCache>
            </c:numRef>
          </c:val>
        </c:ser>
        <c:dLbls>
          <c:numFmt formatCode="\×#,##0" sourceLinked="0"/>
          <c:txPr>
            <a:bodyPr/>
            <a:lstStyle/>
            <a:p>
              <a:pPr>
                <a:defRPr b="0" i="0" strike="noStrike" sz="1100" u="none">
                  <a:solidFill>
                    <a:srgbClr val="52514E"/>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C3C2B7"/>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logBase val="10"/>
          <c:orientation val="minMax"/>
          <c:max val="100000"/>
          <c:min val="100"/>
        </c:scaling>
        <c:delete val="0"/>
        <c:axPos val="b"/>
        <c:majorGridlines>
          <c:spPr>
            <a:ln w="9525" cap="flat">
              <a:solidFill>
                <a:srgbClr val="E1E0D9"/>
              </a:solidFill>
              <a:prstDash val="solid"/>
              <a:round/>
            </a:ln>
          </c:spPr>
        </c:majorGridlines>
        <c:numFmt formatCode="\×#,##0" sourceLinked="0"/>
        <c:majorTickMark val="out"/>
        <c:minorTickMark val="none"/>
        <c:tickLblPos val="low"/>
        <c:spPr>
          <a:ln w="12700" cap="flat">
            <a:no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4171C"/>
                </a:solidFill>
                <a:latin typeface="+mn-lt"/>
              </a:defRPr>
            </a:pPr>
            <a:r>
              <a:rPr sz="1400" b="1" i="0" u="none" strike="noStrike">
                <a:solidFill>
                  <a:srgbClr val="14171C"/>
                </a:solidFill>
                <a:latin typeface="+mn-lt"/>
              </a:rPr>
              <a:t>Times more frequent in ham than in spam</a:t>
            </a:r>
          </a:p>
        </c:rich>
      </c:tx>
      <c:layout/>
      <c:overlay val="0"/>
    </c:title>
    <c:autoTitleDeleted val="0"/>
    <c:plotArea>
      <c:layout/>
      <c:barChart>
        <c:barDir val="bar"/>
        <c:grouping val="clustered"/>
        <c:varyColors val="0"/>
        <c:ser>
          <c:idx val="0"/>
          <c:order val="0"/>
          <c:tx>
            <c:strRef>
              <c:f>Sheet1!$B$1</c:f>
              <c:strCache>
                <c:ptCount val="1"/>
                <c:pt idx="0">
                  <c:v>Times more frequent in ham than in spam</c:v>
                </c:pt>
              </c:strCache>
            </c:strRef>
          </c:tx>
          <c:spPr>
            <a:solidFill>
              <a:schemeClr val="accent1"/>
            </a:solidFill>
            <a:effectLst/>
          </c:spPr>
          <c:invertIfNegative val="0"/>
          <c:dLbls>
            <c:numFmt formatCode="\×#,##0" sourceLinked="0"/>
            <c:txPr>
              <a:bodyPr/>
              <a:lstStyle/>
              <a:p>
                <a:pPr>
                  <a:defRPr b="0" i="0" strike="noStrike" sz="1100" u="none">
                    <a:solidFill>
                      <a:srgbClr val="52514E"/>
                    </a:solidFill>
                    <a:latin typeface="+mn-lt"/>
                  </a:defRPr>
                </a:pPr>
              </a:p>
            </c:txPr>
            <c:showLegendKey val="0"/>
            <c:showVal val="1"/>
            <c:showCatName val="0"/>
            <c:showSerName val="0"/>
            <c:showPercent val="0"/>
            <c:showBubbleSize val="0"/>
            <c:showLeaderLines val="0"/>
          </c:dLbls>
          <c:cat>
            <c:multiLvlStrRef>
              <c:f>Sheet1!$A$2:$A$11</c:f>
              <c:multiLvlStrCache>
                <c:ptCount val="10"/>
                <c:lvl>
                  <c:pt idx="0">
                    <c:v>ask</c:v>
                  </c:pt>
                  <c:pt idx="1">
                    <c:v>happy</c:v>
                  </c:pt>
                  <c:pt idx="2">
                    <c:v>later</c:v>
                  </c:pt>
                  <c:pt idx="3">
                    <c:v>much</c:v>
                  </c:pt>
                  <c:pt idx="4">
                    <c:v>oh</c:v>
                  </c:pt>
                  <c:pt idx="5">
                    <c:v>da (Singlish)</c:v>
                  </c:pt>
                  <c:pt idx="6">
                    <c:v>she</c:v>
                  </c:pt>
                  <c:pt idx="7">
                    <c:v>lor (Singlish)</c:v>
                  </c:pt>
                  <c:pt idx="8">
                    <c:v>ü (you)</c:v>
                  </c:pt>
                  <c:pt idx="9">
                    <c:v>he</c:v>
                  </c:pt>
                </c:lvl>
              </c:multiLvlStrCache>
            </c:multiLvlStrRef>
          </c:cat>
          <c:val>
            <c:numRef>
              <c:f>Sheet1!$B$2:$B$11</c:f>
              <c:numCache>
                <c:formatCode>General</c:formatCode>
                <c:ptCount val="10"/>
                <c:pt idx="0">
                  <c:v>172.6154712730001</c:v>
                </c:pt>
                <c:pt idx="1">
                  <c:v>187.82388283890324</c:v>
                </c:pt>
                <c:pt idx="2">
                  <c:v>203.0322944048064</c:v>
                </c:pt>
                <c:pt idx="3">
                  <c:v>210.63650018775792</c:v>
                </c:pt>
                <c:pt idx="4">
                  <c:v>223.3101764926771</c:v>
                </c:pt>
                <c:pt idx="5">
                  <c:v>266.40067592940255</c:v>
                </c:pt>
                <c:pt idx="6">
                  <c:v>301.8869695831761</c:v>
                </c:pt>
                <c:pt idx="7">
                  <c:v>309.49117536612783</c:v>
                </c:pt>
                <c:pt idx="8">
                  <c:v>357.65114532482096</c:v>
                </c:pt>
                <c:pt idx="9">
                  <c:v>448.90161472023993</c:v>
                </c:pt>
              </c:numCache>
            </c:numRef>
          </c:val>
        </c:ser>
        <c:dLbls>
          <c:numFmt formatCode="\×#,##0" sourceLinked="0"/>
          <c:txPr>
            <a:bodyPr/>
            <a:lstStyle/>
            <a:p>
              <a:pPr>
                <a:defRPr b="0" i="0" strike="noStrike" sz="1100" u="none">
                  <a:solidFill>
                    <a:srgbClr val="52514E"/>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C3C2B7"/>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logBase val="10"/>
          <c:orientation val="minMax"/>
          <c:max val="100000"/>
          <c:min val="100"/>
        </c:scaling>
        <c:delete val="0"/>
        <c:axPos val="b"/>
        <c:majorGridlines>
          <c:spPr>
            <a:ln w="9525" cap="flat">
              <a:solidFill>
                <a:srgbClr val="E1E0D9"/>
              </a:solidFill>
              <a:prstDash val="solid"/>
              <a:round/>
            </a:ln>
          </c:spPr>
        </c:majorGridlines>
        <c:numFmt formatCode="\×#,##0" sourceLinked="0"/>
        <c:majorTickMark val="out"/>
        <c:minorTickMark val="none"/>
        <c:tickLblPos val="low"/>
        <c:spPr>
          <a:ln w="12700" cap="flat">
            <a:no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Abinash. My project asks whether a Naive Bayes classifier can tell spam texts, like the orange ones on the right, from ordinary texts like the blue ones. I used the public UCI SMS Spam Collection, compared multinomial and Gaussian Naive Bayes, and built the whole pipeline in a single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Spam texts are a scam channel: premium-rate numbers and fake prizes. A filter has two jobs that pull against each other: catch spam, and never hide a real message. Naive Bayes applies Bayes' rule word by word, treating each word as independent evidence. I set three research questions, and slides 5 to 7 answer them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needed real cleaning. 601 messages had broken characters. 415 were duplicate copies; left in, the same message could sit in both training and test sets and inflate the score. The biggest catch: one ham source replaced every number with a &lt;#&gt; placeholder that never appears in spam, so a model would learn that &lt;#&gt; means ham. The chart shows the strongest raw signal: spam fills the 160-character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models use the same Bayes rule; they differ in how they model each feature. Multinomial treats a message as word counts, the natural model for text. Bernoulli only asks which words appear. Gaussian fits a bell curve, so I used it for eight continuous statistics after a log transform. The hybrid adds the multinomial and Gaussian log-likelihoods, which is valid if words and statistics are independent given the class. Everything was tuned with 5-fold cross-validation on the training set, and the test set was opened once. My from-scratch multinomial NB matches scikit-learn to 14 decimal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1,032 unseen messages, the cross-validation winner, Bernoulli NB, flagged zero legitimate messages and caught 112 of 128 spam, an F1 of 0.93. Multinomial NB is statistically tied. Both beat logistic regression. Note the baseline: always predicting ham scores 87.6% accuracy while catching nothing, which is why I report precision, recall and F1.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the multinomial-versus-Gaussian question. Gaussian NB on word counts misses a third of the spam, because counts are almost always zero, the wrong shape for a bell curve. Gaussian NB on continuous statistics works reasonably and learns fastest from tiny samples. But combining both added false alarms: characters and words are 97% correlated, so the hybrid counts message length twice. That is the naive independence assumption failing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Naive Bayes is transparent, we can read off its evidence. A phone number is about 19,000 times more common in spam, followed by claim, prize and age gates like 18. Ham evidence is everyday chat and Singlish particles like lor, since much of the ham comes from Singaporean students. The spam that slips through reads like chat, jokes and trivia from subscription services, and 12 of the 16 missed messages have no phone number, money amount or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Naive Bayes is an excellent and transparent spam filter; choose the event model to match the feature type; and combine models only when the features are independent. The main limitations are that the corpus hid numbers in ham, the data predates 2011, and Naive Bayes probabilities are over-confident. Next steps are newer data, character n-grams and probability calibration.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234440"/>
            <a:ext cx="6035040" cy="2194560"/>
          </a:xfrm>
          <a:prstGeom prst="rect">
            <a:avLst/>
          </a:prstGeom>
          <a:noFill/>
          <a:ln/>
        </p:spPr>
        <p:txBody>
          <a:bodyPr wrap="square" rtlCol="0"/>
          <a:lstStyle>
            <a:lvl1pPr algn="l" indent="0" marL="0">
              <a:buNone/>
              <a:defRPr lang="en-US" sz="4600" b="1" dirty="0">
                <a:solidFill>
                  <a:schemeClr val="bg1"/>
                </a:solidFill>
              </a:defRPr>
            </a:lvl1pPr>
          </a:lstStyle>
          <a:p>
            <a:pPr algn="l" indent="0" marL="0">
              <a:buNone/>
            </a:pPr>
            <a:endParaRPr lang="en-US" sz="4600" dirty="0"/>
          </a:p>
        </p:txBody>
      </p:sp>
      <p:sp>
        <p:nvSpPr>
          <p:cNvPr id="3" name="Text 0"/>
          <p:cNvSpPr/>
          <p:nvPr>
            <p:ph idx="101" type="body" hasCustomPrompt="1"/>
          </p:nvPr>
        </p:nvSpPr>
        <p:spPr>
          <a:xfrm>
            <a:off x="640080" y="3657600"/>
            <a:ext cx="5760720" cy="100584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4" name="Text 0"/>
          <p:cNvSpPr/>
          <p:nvPr>
            <p:ph idx="102" type="body" hasCustomPrompt="1"/>
          </p:nvPr>
        </p:nvSpPr>
        <p:spPr>
          <a:xfrm>
            <a:off x="640080" y="5760720"/>
            <a:ext cx="6035040" cy="411480"/>
          </a:xfrm>
          <a:prstGeom prst="rect">
            <a:avLst/>
          </a:prstGeom>
          <a:noFill/>
          <a:ln/>
        </p:spPr>
        <p:txBody>
          <a:bodyPr wrap="square" rtlCol="0"/>
          <a:lstStyle>
            <a:lvl1pPr indent="0" marL="0">
              <a:buNone/>
              <a:defRPr lang="en-US" sz="1400" dirty="0">
                <a:solidFill>
                  <a:schemeClr val="accent5"/>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355080"/>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CS 5830 · Project 5 · Catching SMS spam with Naive Bayes</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nvSpPr>
        <p:spPr>
          <a:xfrm>
            <a:off x="548640" y="635508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CS 5830 · Project 5 · Catching SMS spam with Naive Bayes</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234440"/>
            <a:ext cx="6035040" cy="2194560"/>
          </a:xfrm>
          <a:prstGeom prst="rect">
            <a:avLst/>
          </a:prstGeom>
          <a:noFill/>
          <a:ln/>
        </p:spPr>
        <p:txBody>
          <a:bodyPr wrap="square" lIns="0" tIns="0" rIns="0" bIns="0" rtlCol="0" anchor="b"/>
          <a:lstStyle/>
          <a:p>
            <a:pPr algn="l" indent="0" marL="0">
              <a:buNone/>
            </a:pPr>
            <a:r>
              <a:rPr lang="en-US" sz="4600" b="1" dirty="0">
                <a:solidFill>
                  <a:schemeClr val="bg1"/>
                </a:solidFill>
              </a:rPr>
              <a:t>Catching SMS Spam with Naive Bayes</a:t>
            </a:r>
            <a:endParaRPr lang="en-US" sz="4600" dirty="0"/>
          </a:p>
        </p:txBody>
      </p:sp>
      <p:sp>
        <p:nvSpPr>
          <p:cNvPr id="3" name="Text 0"/>
          <p:cNvSpPr/>
          <p:nvPr>
            <p:ph idx="101" type="body" hasCustomPrompt="1"/>
          </p:nvPr>
        </p:nvSpPr>
        <p:spPr>
          <a:xfrm>
            <a:off x="640080" y="3657600"/>
            <a:ext cx="5760720" cy="1005840"/>
          </a:xfrm>
          <a:prstGeom prst="rect">
            <a:avLst/>
          </a:prstGeom>
          <a:noFill/>
          <a:ln/>
        </p:spPr>
        <p:txBody>
          <a:bodyPr wrap="square" lIns="0" tIns="0" rIns="0" bIns="0" rtlCol="0" anchor="t"/>
          <a:lstStyle/>
          <a:p>
            <a:pPr indent="0" marL="0">
              <a:buNone/>
            </a:pPr>
            <a:r>
              <a:rPr lang="en-US" sz="2000" dirty="0">
                <a:solidFill>
                  <a:schemeClr val="bg2"/>
                </a:solidFill>
              </a:rPr>
              <a:t>Multinomial vs Gaussian Naive Bayes on the UCI SMS Spam Collection</a:t>
            </a:r>
            <a:endParaRPr lang="en-US" sz="2000" dirty="0"/>
          </a:p>
        </p:txBody>
      </p:sp>
      <p:sp>
        <p:nvSpPr>
          <p:cNvPr id="4" name="Text 0"/>
          <p:cNvSpPr/>
          <p:nvPr>
            <p:ph idx="102" type="body" hasCustomPrompt="1"/>
          </p:nvPr>
        </p:nvSpPr>
        <p:spPr>
          <a:xfrm>
            <a:off x="640080" y="5760720"/>
            <a:ext cx="6035040" cy="411480"/>
          </a:xfrm>
          <a:prstGeom prst="rect">
            <a:avLst/>
          </a:prstGeom>
          <a:noFill/>
          <a:ln/>
        </p:spPr>
        <p:txBody>
          <a:bodyPr wrap="square" lIns="0" tIns="0" rIns="0" bIns="0" rtlCol="0" anchor="ctr"/>
          <a:lstStyle/>
          <a:p>
            <a:pPr indent="0" marL="0">
              <a:buNone/>
            </a:pPr>
            <a:r>
              <a:rPr lang="en-US" sz="1400" dirty="0">
                <a:solidFill>
                  <a:schemeClr val="accent5"/>
                </a:solidFill>
              </a:rPr>
              <a:t>Abinash Pant  ·  CS 5830, Project 5  ·  October 2026</a:t>
            </a:r>
            <a:endParaRPr lang="en-US" sz="1400" dirty="0"/>
          </a:p>
        </p:txBody>
      </p:sp>
      <p:sp>
        <p:nvSpPr>
          <p:cNvPr id="5" name="Spam example 1 bubble"/>
          <p:cNvSpPr/>
          <p:nvPr/>
        </p:nvSpPr>
        <p:spPr>
          <a:xfrm>
            <a:off x="7223760" y="868680"/>
            <a:ext cx="4343400" cy="1234440"/>
          </a:xfrm>
          <a:prstGeom prst="wedgeRoundRectCallout">
            <a:avLst/>
          </a:prstGeom>
          <a:solidFill>
            <a:srgbClr val="FCE3D8"/>
          </a:solidFill>
          <a:ln/>
        </p:spPr>
      </p:sp>
      <p:sp>
        <p:nvSpPr>
          <p:cNvPr id="6" name="Spam example 1 text"/>
          <p:cNvSpPr txBox="1"/>
          <p:nvPr/>
        </p:nvSpPr>
        <p:spPr>
          <a:xfrm>
            <a:off x="7406640" y="978408"/>
            <a:ext cx="3977640" cy="1014984"/>
          </a:xfrm>
          <a:prstGeom prst="rect">
            <a:avLst/>
          </a:prstGeom>
          <a:noFill/>
          <a:ln/>
        </p:spPr>
        <p:txBody>
          <a:bodyPr wrap="square" lIns="0" tIns="0" rIns="0" bIns="0" rtlCol="0" anchor="ctr"/>
          <a:lstStyle/>
          <a:p>
            <a:pPr indent="0" marL="0">
              <a:buNone/>
            </a:pPr>
            <a:r>
              <a:rPr lang="en-US" sz="1500" dirty="0">
                <a:solidFill>
                  <a:schemeClr val="tx1"/>
                </a:solidFill>
              </a:rPr>
              <a:t>our mobile number has won £5000, to claim calls us back or ring the claims hot line on 09050005321.</a:t>
            </a:r>
            <a:endParaRPr lang="en-US" sz="1500" dirty="0"/>
          </a:p>
        </p:txBody>
      </p:sp>
      <p:sp>
        <p:nvSpPr>
          <p:cNvPr id="7" name="Spam example 1 label"/>
          <p:cNvSpPr txBox="1"/>
          <p:nvPr/>
        </p:nvSpPr>
        <p:spPr>
          <a:xfrm>
            <a:off x="10469880" y="576072"/>
            <a:ext cx="1097280" cy="256032"/>
          </a:xfrm>
          <a:prstGeom prst="rect">
            <a:avLst/>
          </a:prstGeom>
          <a:noFill/>
          <a:ln/>
        </p:spPr>
        <p:txBody>
          <a:bodyPr wrap="square" lIns="0" tIns="0" rIns="0" bIns="0" rtlCol="0" anchor="t"/>
          <a:lstStyle/>
          <a:p>
            <a:pPr algn="r" indent="0" marL="0">
              <a:buNone/>
            </a:pPr>
            <a:r>
              <a:rPr lang="en-US" sz="1100" b="1" spc="200" kern="0" dirty="0">
                <a:solidFill>
                  <a:schemeClr val="accent5"/>
                </a:solidFill>
              </a:rPr>
              <a:t>SPAM</a:t>
            </a:r>
            <a:endParaRPr lang="en-US" sz="1100" dirty="0"/>
          </a:p>
        </p:txBody>
      </p:sp>
      <p:sp>
        <p:nvSpPr>
          <p:cNvPr id="8" name="Ham example 1 bubble"/>
          <p:cNvSpPr/>
          <p:nvPr/>
        </p:nvSpPr>
        <p:spPr>
          <a:xfrm>
            <a:off x="7223760" y="2606040"/>
            <a:ext cx="3291840" cy="731520"/>
          </a:xfrm>
          <a:prstGeom prst="wedgeRoundRectCallout">
            <a:avLst/>
          </a:prstGeom>
          <a:solidFill>
            <a:srgbClr val="DCEAFB"/>
          </a:solidFill>
          <a:ln/>
        </p:spPr>
      </p:sp>
      <p:sp>
        <p:nvSpPr>
          <p:cNvPr id="9" name="Ham example 1 text"/>
          <p:cNvSpPr txBox="1"/>
          <p:nvPr/>
        </p:nvSpPr>
        <p:spPr>
          <a:xfrm>
            <a:off x="7406640" y="2715768"/>
            <a:ext cx="2926080" cy="512064"/>
          </a:xfrm>
          <a:prstGeom prst="rect">
            <a:avLst/>
          </a:prstGeom>
          <a:noFill/>
          <a:ln/>
        </p:spPr>
        <p:txBody>
          <a:bodyPr wrap="square" lIns="0" tIns="0" rIns="0" bIns="0" rtlCol="0" anchor="ctr"/>
          <a:lstStyle/>
          <a:p>
            <a:pPr indent="0" marL="0">
              <a:buNone/>
            </a:pPr>
            <a:r>
              <a:rPr lang="en-US" sz="1500" dirty="0">
                <a:solidFill>
                  <a:schemeClr val="tx1"/>
                </a:solidFill>
              </a:rPr>
              <a:t>Oh... Icic... K lor, den meet other day...</a:t>
            </a:r>
            <a:endParaRPr lang="en-US" sz="1500" dirty="0"/>
          </a:p>
        </p:txBody>
      </p:sp>
      <p:sp>
        <p:nvSpPr>
          <p:cNvPr id="10" name="Ham example 1 label"/>
          <p:cNvSpPr txBox="1"/>
          <p:nvPr/>
        </p:nvSpPr>
        <p:spPr>
          <a:xfrm>
            <a:off x="9418320" y="2313432"/>
            <a:ext cx="1097280" cy="256032"/>
          </a:xfrm>
          <a:prstGeom prst="rect">
            <a:avLst/>
          </a:prstGeom>
          <a:noFill/>
          <a:ln/>
        </p:spPr>
        <p:txBody>
          <a:bodyPr wrap="square" lIns="0" tIns="0" rIns="0" bIns="0" rtlCol="0" anchor="t"/>
          <a:lstStyle/>
          <a:p>
            <a:pPr algn="r" indent="0" marL="0">
              <a:buNone/>
            </a:pPr>
            <a:r>
              <a:rPr lang="en-US" sz="1100" b="1" spc="200" kern="0" dirty="0">
                <a:solidFill>
                  <a:schemeClr val="accent5"/>
                </a:solidFill>
              </a:rPr>
              <a:t>HAM</a:t>
            </a:r>
            <a:endParaRPr lang="en-US" sz="1100" dirty="0"/>
          </a:p>
        </p:txBody>
      </p:sp>
      <p:sp>
        <p:nvSpPr>
          <p:cNvPr id="11" name="Spam example 2 bubble"/>
          <p:cNvSpPr/>
          <p:nvPr/>
        </p:nvSpPr>
        <p:spPr>
          <a:xfrm>
            <a:off x="7223760" y="3840480"/>
            <a:ext cx="4343400" cy="1234440"/>
          </a:xfrm>
          <a:prstGeom prst="wedgeRoundRectCallout">
            <a:avLst/>
          </a:prstGeom>
          <a:solidFill>
            <a:srgbClr val="FCE3D8"/>
          </a:solidFill>
          <a:ln/>
        </p:spPr>
      </p:sp>
      <p:sp>
        <p:nvSpPr>
          <p:cNvPr id="12" name="Spam example 2 text"/>
          <p:cNvSpPr txBox="1"/>
          <p:nvPr/>
        </p:nvSpPr>
        <p:spPr>
          <a:xfrm>
            <a:off x="7406640" y="3950208"/>
            <a:ext cx="3977640" cy="1014984"/>
          </a:xfrm>
          <a:prstGeom prst="rect">
            <a:avLst/>
          </a:prstGeom>
          <a:noFill/>
          <a:ln/>
        </p:spPr>
        <p:txBody>
          <a:bodyPr wrap="square" lIns="0" tIns="0" rIns="0" bIns="0" rtlCol="0" anchor="ctr"/>
          <a:lstStyle/>
          <a:p>
            <a:pPr indent="0" marL="0">
              <a:buNone/>
            </a:pPr>
            <a:r>
              <a:rPr lang="en-US" sz="1500" dirty="0">
                <a:solidFill>
                  <a:schemeClr val="tx1"/>
                </a:solidFill>
              </a:rPr>
              <a:t>FREE entry into our £250 weekly comp just send the word WIN to 80086 NOW. 18 T&amp;C www.txttowin.co.uk</a:t>
            </a:r>
            <a:endParaRPr lang="en-US" sz="1500" dirty="0"/>
          </a:p>
        </p:txBody>
      </p:sp>
      <p:sp>
        <p:nvSpPr>
          <p:cNvPr id="13" name="Spam example 2 label"/>
          <p:cNvSpPr txBox="1"/>
          <p:nvPr/>
        </p:nvSpPr>
        <p:spPr>
          <a:xfrm>
            <a:off x="10469880" y="3547872"/>
            <a:ext cx="1097280" cy="256032"/>
          </a:xfrm>
          <a:prstGeom prst="rect">
            <a:avLst/>
          </a:prstGeom>
          <a:noFill/>
          <a:ln/>
        </p:spPr>
        <p:txBody>
          <a:bodyPr wrap="square" lIns="0" tIns="0" rIns="0" bIns="0" rtlCol="0" anchor="t"/>
          <a:lstStyle/>
          <a:p>
            <a:pPr algn="r" indent="0" marL="0">
              <a:buNone/>
            </a:pPr>
            <a:r>
              <a:rPr lang="en-US" sz="1100" b="1" spc="200" kern="0" dirty="0">
                <a:solidFill>
                  <a:schemeClr val="accent5"/>
                </a:solidFill>
              </a:rPr>
              <a:t>SPAM</a:t>
            </a:r>
            <a:endParaRPr lang="en-US" sz="1100" dirty="0"/>
          </a:p>
        </p:txBody>
      </p:sp>
      <p:sp>
        <p:nvSpPr>
          <p:cNvPr id="14" name="Ham example 2 bubble"/>
          <p:cNvSpPr/>
          <p:nvPr/>
        </p:nvSpPr>
        <p:spPr>
          <a:xfrm>
            <a:off x="7223760" y="5577840"/>
            <a:ext cx="3017520" cy="640080"/>
          </a:xfrm>
          <a:prstGeom prst="wedgeRoundRectCallout">
            <a:avLst/>
          </a:prstGeom>
          <a:solidFill>
            <a:srgbClr val="DCEAFB"/>
          </a:solidFill>
          <a:ln/>
        </p:spPr>
      </p:sp>
      <p:sp>
        <p:nvSpPr>
          <p:cNvPr id="15" name="Ham example 2 text"/>
          <p:cNvSpPr txBox="1"/>
          <p:nvPr/>
        </p:nvSpPr>
        <p:spPr>
          <a:xfrm>
            <a:off x="7406640" y="5687568"/>
            <a:ext cx="2651760" cy="420624"/>
          </a:xfrm>
          <a:prstGeom prst="rect">
            <a:avLst/>
          </a:prstGeom>
          <a:noFill/>
          <a:ln/>
        </p:spPr>
        <p:txBody>
          <a:bodyPr wrap="square" lIns="0" tIns="0" rIns="0" bIns="0" rtlCol="0" anchor="ctr"/>
          <a:lstStyle/>
          <a:p>
            <a:pPr indent="0" marL="0">
              <a:buNone/>
            </a:pPr>
            <a:r>
              <a:rPr lang="en-US" sz="1500" dirty="0">
                <a:solidFill>
                  <a:schemeClr val="tx1"/>
                </a:solidFill>
              </a:rPr>
              <a:t>Is there any training tomorrow?</a:t>
            </a:r>
            <a:endParaRPr lang="en-US" sz="1500" dirty="0"/>
          </a:p>
        </p:txBody>
      </p:sp>
      <p:sp>
        <p:nvSpPr>
          <p:cNvPr id="16" name="Ham example 2 label"/>
          <p:cNvSpPr txBox="1"/>
          <p:nvPr/>
        </p:nvSpPr>
        <p:spPr>
          <a:xfrm>
            <a:off x="9144000" y="5285232"/>
            <a:ext cx="1097280" cy="256032"/>
          </a:xfrm>
          <a:prstGeom prst="rect">
            <a:avLst/>
          </a:prstGeom>
          <a:noFill/>
          <a:ln/>
        </p:spPr>
        <p:txBody>
          <a:bodyPr wrap="square" lIns="0" tIns="0" rIns="0" bIns="0" rtlCol="0" anchor="t"/>
          <a:lstStyle/>
          <a:p>
            <a:pPr algn="r" indent="0" marL="0">
              <a:buNone/>
            </a:pPr>
            <a:r>
              <a:rPr lang="en-US" sz="1100" b="1" spc="200" kern="0" dirty="0">
                <a:solidFill>
                  <a:schemeClr val="accent5"/>
                </a:solidFill>
              </a:rPr>
              <a:t>HAM</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Three questions for a spam filter</a:t>
            </a:r>
            <a:endParaRPr lang="en-US" sz="3400" dirty="0"/>
          </a:p>
        </p:txBody>
      </p:sp>
      <p:sp>
        <p:nvSpPr>
          <p:cNvPr id="3" name="Text 1"/>
          <p:cNvSpPr txBox="1"/>
          <p:nvPr/>
        </p:nvSpPr>
        <p:spPr>
          <a:xfrm>
            <a:off x="548640" y="1463040"/>
            <a:ext cx="4572000" cy="1371600"/>
          </a:xfrm>
          <a:prstGeom prst="rect">
            <a:avLst/>
          </a:prstGeom>
          <a:noFill/>
          <a:ln/>
        </p:spPr>
        <p:txBody>
          <a:bodyPr wrap="square" lIns="0" tIns="0" rIns="0" bIns="0" rtlCol="0" anchor="t"/>
          <a:lstStyle/>
          <a:p>
            <a:pPr indent="0" marL="0">
              <a:buNone/>
            </a:pPr>
            <a:r>
              <a:rPr lang="en-US" sz="1700" dirty="0">
                <a:solidFill>
                  <a:schemeClr val="accent6"/>
                </a:solidFill>
              </a:rPr>
              <a:t>Spam texts push premium-rate numbers, fake prizes and scams. A good filter has two jobs that pull against each other: catch the spam, and never hide a real message.</a:t>
            </a:r>
            <a:endParaRPr lang="en-US" sz="1700" dirty="0"/>
          </a:p>
        </p:txBody>
      </p:sp>
      <p:sp>
        <p:nvSpPr>
          <p:cNvPr id="4" name="Bayes rule card"/>
          <p:cNvSpPr/>
          <p:nvPr/>
        </p:nvSpPr>
        <p:spPr>
          <a:xfrm>
            <a:off x="548640" y="3200400"/>
            <a:ext cx="4572000" cy="2194560"/>
          </a:xfrm>
          <a:prstGeom prst="roundRect">
            <a:avLst>
              <a:gd name="adj" fmla="val 5000"/>
            </a:avLst>
          </a:prstGeom>
          <a:solidFill>
            <a:schemeClr val="bg2"/>
          </a:solidFill>
          <a:ln/>
        </p:spPr>
      </p:sp>
      <p:sp>
        <p:nvSpPr>
          <p:cNvPr id="5" name="Text 3"/>
          <p:cNvSpPr txBox="1"/>
          <p:nvPr/>
        </p:nvSpPr>
        <p:spPr>
          <a:xfrm>
            <a:off x="822960" y="3383280"/>
            <a:ext cx="4114800" cy="365760"/>
          </a:xfrm>
          <a:prstGeom prst="rect">
            <a:avLst/>
          </a:prstGeom>
          <a:noFill/>
          <a:ln/>
        </p:spPr>
        <p:txBody>
          <a:bodyPr wrap="square" lIns="0" tIns="0" rIns="0" bIns="0" rtlCol="0" anchor="t"/>
          <a:lstStyle/>
          <a:p>
            <a:pPr indent="0" marL="0">
              <a:buNone/>
            </a:pPr>
            <a:r>
              <a:rPr lang="en-US" sz="1600" b="1" dirty="0">
                <a:solidFill>
                  <a:schemeClr val="tx1"/>
                </a:solidFill>
              </a:rPr>
              <a:t>The tool: Bayes' rule, applied word by word</a:t>
            </a:r>
            <a:endParaRPr lang="en-US" sz="1600" dirty="0"/>
          </a:p>
        </p:txBody>
      </p:sp>
      <p:sp>
        <p:nvSpPr>
          <p:cNvPr id="6" name="Text 4"/>
          <p:cNvSpPr txBox="1"/>
          <p:nvPr/>
        </p:nvSpPr>
        <p:spPr>
          <a:xfrm>
            <a:off x="822960" y="3886200"/>
            <a:ext cx="4114800" cy="457200"/>
          </a:xfrm>
          <a:prstGeom prst="rect">
            <a:avLst/>
          </a:prstGeom>
          <a:noFill/>
          <a:ln/>
        </p:spPr>
        <p:txBody>
          <a:bodyPr wrap="square" lIns="0" tIns="0" rIns="0" bIns="0" rtlCol="0" anchor="t"/>
          <a:lstStyle/>
          <a:p>
            <a:pPr indent="0" marL="0">
              <a:buNone/>
            </a:pPr>
            <a:r>
              <a:rPr lang="en-US" sz="1700" dirty="0">
                <a:solidFill>
                  <a:schemeClr val="tx2"/>
                </a:solidFill>
                <a:latin typeface="Cambria Math" pitchFamily="34" charset="0"/>
                <a:ea typeface="Cambria Math" pitchFamily="34" charset="-122"/>
                <a:cs typeface="Cambria Math" pitchFamily="34" charset="-120"/>
              </a:rPr>
              <a:t>P(spam | text)  ∝  P(spam) × P(text | spam)</a:t>
            </a:r>
            <a:endParaRPr lang="en-US" sz="1700" dirty="0"/>
          </a:p>
        </p:txBody>
      </p:sp>
      <p:sp>
        <p:nvSpPr>
          <p:cNvPr id="7" name="Text 5"/>
          <p:cNvSpPr txBox="1"/>
          <p:nvPr/>
        </p:nvSpPr>
        <p:spPr>
          <a:xfrm>
            <a:off x="822960" y="4434840"/>
            <a:ext cx="4114800" cy="822960"/>
          </a:xfrm>
          <a:prstGeom prst="rect">
            <a:avLst/>
          </a:prstGeom>
          <a:noFill/>
          <a:ln/>
        </p:spPr>
        <p:txBody>
          <a:bodyPr wrap="square" lIns="0" tIns="0" rIns="0" bIns="0" rtlCol="0" anchor="t"/>
          <a:lstStyle/>
          <a:p>
            <a:pPr indent="0" marL="0">
              <a:buNone/>
            </a:pPr>
            <a:r>
              <a:rPr lang="en-US" sz="1400" dirty="0">
                <a:solidFill>
                  <a:schemeClr val="accent6"/>
                </a:solidFill>
              </a:rPr>
              <a:t>"Naive": every word counts as independent evidence once we know the class. Simple, fast, and every decision can be read back word by word.</a:t>
            </a:r>
            <a:endParaRPr lang="en-US" sz="1400" dirty="0"/>
          </a:p>
        </p:txBody>
      </p:sp>
      <p:sp>
        <p:nvSpPr>
          <p:cNvPr id="8" name="Question 1 card"/>
          <p:cNvSpPr/>
          <p:nvPr/>
        </p:nvSpPr>
        <p:spPr>
          <a:xfrm>
            <a:off x="5669280" y="1463040"/>
            <a:ext cx="5943600" cy="1188720"/>
          </a:xfrm>
          <a:prstGeom prst="roundRect">
            <a:avLst>
              <a:gd name="adj" fmla="val 9231"/>
            </a:avLst>
          </a:prstGeom>
          <a:solidFill>
            <a:schemeClr val="bg2"/>
          </a:solidFill>
          <a:ln/>
        </p:spPr>
      </p:sp>
      <p:sp>
        <p:nvSpPr>
          <p:cNvPr id="9" name="Question 1 badge"/>
          <p:cNvSpPr/>
          <p:nvPr/>
        </p:nvSpPr>
        <p:spPr>
          <a:xfrm>
            <a:off x="5897880" y="1801368"/>
            <a:ext cx="502920" cy="502920"/>
          </a:xfrm>
          <a:prstGeom prst="ellipse">
            <a:avLst/>
          </a:prstGeom>
          <a:solidFill>
            <a:schemeClr val="accent2"/>
          </a:solidFill>
          <a:ln/>
        </p:spPr>
      </p:sp>
      <p:sp>
        <p:nvSpPr>
          <p:cNvPr id="10" name="Question 1 number"/>
          <p:cNvSpPr txBox="1"/>
          <p:nvPr/>
        </p:nvSpPr>
        <p:spPr>
          <a:xfrm>
            <a:off x="5897880" y="180136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1" name="Text 9"/>
          <p:cNvSpPr txBox="1"/>
          <p:nvPr/>
        </p:nvSpPr>
        <p:spPr>
          <a:xfrm>
            <a:off x="6629400" y="1627632"/>
            <a:ext cx="4800600" cy="640080"/>
          </a:xfrm>
          <a:prstGeom prst="rect">
            <a:avLst/>
          </a:prstGeom>
          <a:noFill/>
          <a:ln/>
        </p:spPr>
        <p:txBody>
          <a:bodyPr wrap="square" lIns="0" tIns="0" rIns="0" bIns="0" rtlCol="0" anchor="ctr"/>
          <a:lstStyle/>
          <a:p>
            <a:pPr indent="0" marL="0">
              <a:buNone/>
            </a:pPr>
            <a:r>
              <a:rPr lang="en-US" sz="1700" b="1" dirty="0">
                <a:solidFill>
                  <a:schemeClr val="tx1"/>
                </a:solidFill>
              </a:rPr>
              <a:t>How well does Naive Bayes catch spam it has never seen?</a:t>
            </a:r>
            <a:endParaRPr lang="en-US" sz="1700" dirty="0"/>
          </a:p>
        </p:txBody>
      </p:sp>
      <p:sp>
        <p:nvSpPr>
          <p:cNvPr id="12" name="Text 10"/>
          <p:cNvSpPr txBox="1"/>
          <p:nvPr/>
        </p:nvSpPr>
        <p:spPr>
          <a:xfrm>
            <a:off x="6629400" y="2267712"/>
            <a:ext cx="4800600" cy="274320"/>
          </a:xfrm>
          <a:prstGeom prst="rect">
            <a:avLst/>
          </a:prstGeom>
          <a:noFill/>
          <a:ln/>
        </p:spPr>
        <p:txBody>
          <a:bodyPr wrap="square" lIns="0" tIns="0" rIns="0" bIns="0" rtlCol="0" anchor="t"/>
          <a:lstStyle/>
          <a:p>
            <a:pPr indent="0" marL="0">
              <a:buNone/>
            </a:pPr>
            <a:r>
              <a:rPr lang="en-US" sz="1200" dirty="0">
                <a:solidFill>
                  <a:schemeClr val="accent6"/>
                </a:solidFill>
              </a:rPr>
              <a:t>Answered on slide 5</a:t>
            </a:r>
            <a:endParaRPr lang="en-US" sz="1200" dirty="0"/>
          </a:p>
        </p:txBody>
      </p:sp>
      <p:sp>
        <p:nvSpPr>
          <p:cNvPr id="13" name="Question 2 card"/>
          <p:cNvSpPr/>
          <p:nvPr/>
        </p:nvSpPr>
        <p:spPr>
          <a:xfrm>
            <a:off x="5669280" y="2880360"/>
            <a:ext cx="5943600" cy="1188720"/>
          </a:xfrm>
          <a:prstGeom prst="roundRect">
            <a:avLst>
              <a:gd name="adj" fmla="val 9231"/>
            </a:avLst>
          </a:prstGeom>
          <a:solidFill>
            <a:schemeClr val="bg2"/>
          </a:solidFill>
          <a:ln/>
        </p:spPr>
      </p:sp>
      <p:sp>
        <p:nvSpPr>
          <p:cNvPr id="14" name="Question 2 badge"/>
          <p:cNvSpPr/>
          <p:nvPr/>
        </p:nvSpPr>
        <p:spPr>
          <a:xfrm>
            <a:off x="5897880" y="3218688"/>
            <a:ext cx="502920" cy="502920"/>
          </a:xfrm>
          <a:prstGeom prst="ellipse">
            <a:avLst/>
          </a:prstGeom>
          <a:solidFill>
            <a:schemeClr val="accent2"/>
          </a:solidFill>
          <a:ln/>
        </p:spPr>
      </p:sp>
      <p:sp>
        <p:nvSpPr>
          <p:cNvPr id="15" name="Question 2 number"/>
          <p:cNvSpPr txBox="1"/>
          <p:nvPr/>
        </p:nvSpPr>
        <p:spPr>
          <a:xfrm>
            <a:off x="5897880" y="321868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6" name="Text 14"/>
          <p:cNvSpPr txBox="1"/>
          <p:nvPr/>
        </p:nvSpPr>
        <p:spPr>
          <a:xfrm>
            <a:off x="6629400" y="3044952"/>
            <a:ext cx="4800600" cy="640080"/>
          </a:xfrm>
          <a:prstGeom prst="rect">
            <a:avLst/>
          </a:prstGeom>
          <a:noFill/>
          <a:ln/>
        </p:spPr>
        <p:txBody>
          <a:bodyPr wrap="square" lIns="0" tIns="0" rIns="0" bIns="0" rtlCol="0" anchor="ctr"/>
          <a:lstStyle/>
          <a:p>
            <a:pPr indent="0" marL="0">
              <a:buNone/>
            </a:pPr>
            <a:r>
              <a:rPr lang="en-US" sz="1700" b="1" dirty="0">
                <a:solidFill>
                  <a:schemeClr val="tx1"/>
                </a:solidFill>
              </a:rPr>
              <a:t>Multinomial or Gaussian: which fits which features, and does combining them help?</a:t>
            </a:r>
            <a:endParaRPr lang="en-US" sz="1700" dirty="0"/>
          </a:p>
        </p:txBody>
      </p:sp>
      <p:sp>
        <p:nvSpPr>
          <p:cNvPr id="17" name="Text 15"/>
          <p:cNvSpPr txBox="1"/>
          <p:nvPr/>
        </p:nvSpPr>
        <p:spPr>
          <a:xfrm>
            <a:off x="6629400" y="3685032"/>
            <a:ext cx="4800600" cy="274320"/>
          </a:xfrm>
          <a:prstGeom prst="rect">
            <a:avLst/>
          </a:prstGeom>
          <a:noFill/>
          <a:ln/>
        </p:spPr>
        <p:txBody>
          <a:bodyPr wrap="square" lIns="0" tIns="0" rIns="0" bIns="0" rtlCol="0" anchor="t"/>
          <a:lstStyle/>
          <a:p>
            <a:pPr indent="0" marL="0">
              <a:buNone/>
            </a:pPr>
            <a:r>
              <a:rPr lang="en-US" sz="1200" dirty="0">
                <a:solidFill>
                  <a:schemeClr val="accent6"/>
                </a:solidFill>
              </a:rPr>
              <a:t>Answered on slide 6</a:t>
            </a:r>
            <a:endParaRPr lang="en-US" sz="1200" dirty="0"/>
          </a:p>
        </p:txBody>
      </p:sp>
      <p:sp>
        <p:nvSpPr>
          <p:cNvPr id="18" name="Question 3 card"/>
          <p:cNvSpPr/>
          <p:nvPr/>
        </p:nvSpPr>
        <p:spPr>
          <a:xfrm>
            <a:off x="5669280" y="4297680"/>
            <a:ext cx="5943600" cy="1188720"/>
          </a:xfrm>
          <a:prstGeom prst="roundRect">
            <a:avLst>
              <a:gd name="adj" fmla="val 9231"/>
            </a:avLst>
          </a:prstGeom>
          <a:solidFill>
            <a:schemeClr val="bg2"/>
          </a:solidFill>
          <a:ln/>
        </p:spPr>
      </p:sp>
      <p:sp>
        <p:nvSpPr>
          <p:cNvPr id="19" name="Question 3 badge"/>
          <p:cNvSpPr/>
          <p:nvPr/>
        </p:nvSpPr>
        <p:spPr>
          <a:xfrm>
            <a:off x="5897880" y="4636008"/>
            <a:ext cx="502920" cy="502920"/>
          </a:xfrm>
          <a:prstGeom prst="ellipse">
            <a:avLst/>
          </a:prstGeom>
          <a:solidFill>
            <a:schemeClr val="accent2"/>
          </a:solidFill>
          <a:ln/>
        </p:spPr>
      </p:sp>
      <p:sp>
        <p:nvSpPr>
          <p:cNvPr id="20" name="Question 3 number"/>
          <p:cNvSpPr txBox="1"/>
          <p:nvPr/>
        </p:nvSpPr>
        <p:spPr>
          <a:xfrm>
            <a:off x="5897880" y="463600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1" name="Text 19"/>
          <p:cNvSpPr txBox="1"/>
          <p:nvPr/>
        </p:nvSpPr>
        <p:spPr>
          <a:xfrm>
            <a:off x="6629400" y="4462272"/>
            <a:ext cx="4800600" cy="640080"/>
          </a:xfrm>
          <a:prstGeom prst="rect">
            <a:avLst/>
          </a:prstGeom>
          <a:noFill/>
          <a:ln/>
        </p:spPr>
        <p:txBody>
          <a:bodyPr wrap="square" lIns="0" tIns="0" rIns="0" bIns="0" rtlCol="0" anchor="ctr"/>
          <a:lstStyle/>
          <a:p>
            <a:pPr indent="0" marL="0">
              <a:buNone/>
            </a:pPr>
            <a:r>
              <a:rPr lang="en-US" sz="1700" b="1" dirty="0">
                <a:solidFill>
                  <a:schemeClr val="tx1"/>
                </a:solidFill>
              </a:rPr>
              <a:t>What gives spam away, and what still slips through?</a:t>
            </a:r>
            <a:endParaRPr lang="en-US" sz="1700" dirty="0"/>
          </a:p>
        </p:txBody>
      </p:sp>
      <p:sp>
        <p:nvSpPr>
          <p:cNvPr id="22" name="Text 20"/>
          <p:cNvSpPr txBox="1"/>
          <p:nvPr/>
        </p:nvSpPr>
        <p:spPr>
          <a:xfrm>
            <a:off x="6629400" y="5102352"/>
            <a:ext cx="4800600" cy="274320"/>
          </a:xfrm>
          <a:prstGeom prst="rect">
            <a:avLst/>
          </a:prstGeom>
          <a:noFill/>
          <a:ln/>
        </p:spPr>
        <p:txBody>
          <a:bodyPr wrap="square" lIns="0" tIns="0" rIns="0" bIns="0" rtlCol="0" anchor="t"/>
          <a:lstStyle/>
          <a:p>
            <a:pPr indent="0" marL="0">
              <a:buNone/>
            </a:pPr>
            <a:r>
              <a:rPr lang="en-US" sz="1200" dirty="0">
                <a:solidFill>
                  <a:schemeClr val="accent6"/>
                </a:solidFill>
              </a:rPr>
              <a:t>Answered on slide 7</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5,574 raw messages, 5,159 clean ones</a:t>
            </a:r>
            <a:endParaRPr lang="en-US" sz="3400" dirty="0"/>
          </a:p>
        </p:txBody>
      </p:sp>
      <p:sp>
        <p:nvSpPr>
          <p:cNvPr id="3" name="Step 1 badge"/>
          <p:cNvSpPr/>
          <p:nvPr/>
        </p:nvSpPr>
        <p:spPr>
          <a:xfrm>
            <a:off x="548640" y="1572768"/>
            <a:ext cx="457200" cy="457200"/>
          </a:xfrm>
          <a:prstGeom prst="ellipse">
            <a:avLst/>
          </a:prstGeom>
          <a:solidFill>
            <a:schemeClr val="tx2"/>
          </a:solidFill>
          <a:ln/>
        </p:spPr>
      </p:sp>
      <p:sp>
        <p:nvSpPr>
          <p:cNvPr id="4" name="Step 1 number"/>
          <p:cNvSpPr txBox="1"/>
          <p:nvPr/>
        </p:nvSpPr>
        <p:spPr>
          <a:xfrm>
            <a:off x="548640" y="157276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188720" y="1481328"/>
            <a:ext cx="3840480" cy="347472"/>
          </a:xfrm>
          <a:prstGeom prst="rect">
            <a:avLst/>
          </a:prstGeom>
          <a:noFill/>
          <a:ln/>
        </p:spPr>
        <p:txBody>
          <a:bodyPr wrap="square" lIns="0" tIns="0" rIns="0" bIns="0" rtlCol="0" anchor="t"/>
          <a:lstStyle/>
          <a:p>
            <a:pPr indent="0" marL="0">
              <a:buNone/>
            </a:pPr>
            <a:r>
              <a:rPr lang="en-US" sz="1700" b="1" dirty="0">
                <a:solidFill>
                  <a:schemeClr val="tx1"/>
                </a:solidFill>
              </a:rPr>
              <a:t>Fix broken characters</a:t>
            </a:r>
            <a:endParaRPr lang="en-US" sz="1700" dirty="0"/>
          </a:p>
        </p:txBody>
      </p:sp>
      <p:sp>
        <p:nvSpPr>
          <p:cNvPr id="6" name="Text 4"/>
          <p:cNvSpPr txBox="1"/>
          <p:nvPr/>
        </p:nvSpPr>
        <p:spPr>
          <a:xfrm>
            <a:off x="1188720" y="1847088"/>
            <a:ext cx="3840480" cy="320040"/>
          </a:xfrm>
          <a:prstGeom prst="rect">
            <a:avLst/>
          </a:prstGeom>
          <a:noFill/>
          <a:ln/>
        </p:spPr>
        <p:txBody>
          <a:bodyPr wrap="square" lIns="0" tIns="0" rIns="0" bIns="0" rtlCol="0" anchor="t"/>
          <a:lstStyle/>
          <a:p>
            <a:pPr indent="0" marL="0">
              <a:buNone/>
            </a:pPr>
            <a:r>
              <a:rPr lang="en-US" sz="1300" dirty="0">
                <a:solidFill>
                  <a:schemeClr val="accent6"/>
                </a:solidFill>
              </a:rPr>
              <a:t>601 messages had HTML entities or Windows quotes</a:t>
            </a:r>
            <a:endParaRPr lang="en-US" sz="1300" dirty="0"/>
          </a:p>
        </p:txBody>
      </p:sp>
      <p:sp>
        <p:nvSpPr>
          <p:cNvPr id="7" name="Step 2 badge"/>
          <p:cNvSpPr/>
          <p:nvPr/>
        </p:nvSpPr>
        <p:spPr>
          <a:xfrm>
            <a:off x="548640" y="2487168"/>
            <a:ext cx="457200" cy="457200"/>
          </a:xfrm>
          <a:prstGeom prst="ellipse">
            <a:avLst/>
          </a:prstGeom>
          <a:solidFill>
            <a:schemeClr val="tx2"/>
          </a:solidFill>
          <a:ln/>
        </p:spPr>
      </p:sp>
      <p:sp>
        <p:nvSpPr>
          <p:cNvPr id="8" name="Step 2 number"/>
          <p:cNvSpPr txBox="1"/>
          <p:nvPr/>
        </p:nvSpPr>
        <p:spPr>
          <a:xfrm>
            <a:off x="548640" y="248716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Text 7"/>
          <p:cNvSpPr txBox="1"/>
          <p:nvPr/>
        </p:nvSpPr>
        <p:spPr>
          <a:xfrm>
            <a:off x="1188720" y="2395728"/>
            <a:ext cx="3840480" cy="347472"/>
          </a:xfrm>
          <a:prstGeom prst="rect">
            <a:avLst/>
          </a:prstGeom>
          <a:noFill/>
          <a:ln/>
        </p:spPr>
        <p:txBody>
          <a:bodyPr wrap="square" lIns="0" tIns="0" rIns="0" bIns="0" rtlCol="0" anchor="t"/>
          <a:lstStyle/>
          <a:p>
            <a:pPr indent="0" marL="0">
              <a:buNone/>
            </a:pPr>
            <a:r>
              <a:rPr lang="en-US" sz="1700" b="1" dirty="0">
                <a:solidFill>
                  <a:schemeClr val="tx1"/>
                </a:solidFill>
              </a:rPr>
              <a:t>Remove duplicates</a:t>
            </a:r>
            <a:endParaRPr lang="en-US" sz="1700" dirty="0"/>
          </a:p>
        </p:txBody>
      </p:sp>
      <p:sp>
        <p:nvSpPr>
          <p:cNvPr id="10" name="Text 8"/>
          <p:cNvSpPr txBox="1"/>
          <p:nvPr/>
        </p:nvSpPr>
        <p:spPr>
          <a:xfrm>
            <a:off x="1188720" y="2761488"/>
            <a:ext cx="3840480" cy="320040"/>
          </a:xfrm>
          <a:prstGeom prst="rect">
            <a:avLst/>
          </a:prstGeom>
          <a:noFill/>
          <a:ln/>
        </p:spPr>
        <p:txBody>
          <a:bodyPr wrap="square" lIns="0" tIns="0" rIns="0" bIns="0" rtlCol="0" anchor="t"/>
          <a:lstStyle/>
          <a:p>
            <a:pPr indent="0" marL="0">
              <a:buNone/>
            </a:pPr>
            <a:r>
              <a:rPr lang="en-US" sz="1300" dirty="0">
                <a:solidFill>
                  <a:schemeClr val="accent6"/>
                </a:solidFill>
              </a:rPr>
              <a:t>415 copies that would leak into the test set</a:t>
            </a:r>
            <a:endParaRPr lang="en-US" sz="1300" dirty="0"/>
          </a:p>
        </p:txBody>
      </p:sp>
      <p:sp>
        <p:nvSpPr>
          <p:cNvPr id="11" name="Step 3 badge"/>
          <p:cNvSpPr/>
          <p:nvPr/>
        </p:nvSpPr>
        <p:spPr>
          <a:xfrm>
            <a:off x="548640" y="3401568"/>
            <a:ext cx="457200" cy="457200"/>
          </a:xfrm>
          <a:prstGeom prst="ellipse">
            <a:avLst/>
          </a:prstGeom>
          <a:solidFill>
            <a:schemeClr val="tx2"/>
          </a:solidFill>
          <a:ln/>
        </p:spPr>
      </p:sp>
      <p:sp>
        <p:nvSpPr>
          <p:cNvPr id="12" name="Step 3 number"/>
          <p:cNvSpPr txBox="1"/>
          <p:nvPr/>
        </p:nvSpPr>
        <p:spPr>
          <a:xfrm>
            <a:off x="548640" y="340156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 11"/>
          <p:cNvSpPr txBox="1"/>
          <p:nvPr/>
        </p:nvSpPr>
        <p:spPr>
          <a:xfrm>
            <a:off x="1188720" y="3310128"/>
            <a:ext cx="3840480" cy="347472"/>
          </a:xfrm>
          <a:prstGeom prst="rect">
            <a:avLst/>
          </a:prstGeom>
          <a:noFill/>
          <a:ln/>
        </p:spPr>
        <p:txBody>
          <a:bodyPr wrap="square" lIns="0" tIns="0" rIns="0" bIns="0" rtlCol="0" anchor="t"/>
          <a:lstStyle/>
          <a:p>
            <a:pPr indent="0" marL="0">
              <a:buNone/>
            </a:pPr>
            <a:r>
              <a:rPr lang="en-US" sz="1700" b="1" dirty="0">
                <a:solidFill>
                  <a:schemeClr val="tx1"/>
                </a:solidFill>
              </a:rPr>
              <a:t>Neutralise a ham-only artifact</a:t>
            </a:r>
            <a:endParaRPr lang="en-US" sz="1700" dirty="0"/>
          </a:p>
        </p:txBody>
      </p:sp>
      <p:sp>
        <p:nvSpPr>
          <p:cNvPr id="14" name="Text 12"/>
          <p:cNvSpPr txBox="1"/>
          <p:nvPr/>
        </p:nvSpPr>
        <p:spPr>
          <a:xfrm>
            <a:off x="1188720" y="3675888"/>
            <a:ext cx="3840480" cy="320040"/>
          </a:xfrm>
          <a:prstGeom prst="rect">
            <a:avLst/>
          </a:prstGeom>
          <a:noFill/>
          <a:ln/>
        </p:spPr>
        <p:txBody>
          <a:bodyPr wrap="square" lIns="0" tIns="0" rIns="0" bIns="0" rtlCol="0" anchor="t"/>
          <a:lstStyle/>
          <a:p>
            <a:pPr indent="0" marL="0">
              <a:buNone/>
            </a:pPr>
            <a:r>
              <a:rPr lang="en-US" sz="1300" dirty="0">
                <a:solidFill>
                  <a:schemeClr val="accent6"/>
                </a:solidFill>
              </a:rPr>
              <a:t>the &lt;#&gt; placeholder would be the #1 ham word</a:t>
            </a:r>
            <a:endParaRPr lang="en-US" sz="1300" dirty="0"/>
          </a:p>
        </p:txBody>
      </p:sp>
      <p:sp>
        <p:nvSpPr>
          <p:cNvPr id="15" name="Step 4 badge"/>
          <p:cNvSpPr/>
          <p:nvPr/>
        </p:nvSpPr>
        <p:spPr>
          <a:xfrm>
            <a:off x="548640" y="4315968"/>
            <a:ext cx="457200" cy="457200"/>
          </a:xfrm>
          <a:prstGeom prst="ellipse">
            <a:avLst/>
          </a:prstGeom>
          <a:solidFill>
            <a:schemeClr val="tx2"/>
          </a:solidFill>
          <a:ln/>
        </p:spPr>
      </p:sp>
      <p:sp>
        <p:nvSpPr>
          <p:cNvPr id="16" name="Step 4 number"/>
          <p:cNvSpPr txBox="1"/>
          <p:nvPr/>
        </p:nvSpPr>
        <p:spPr>
          <a:xfrm>
            <a:off x="548640" y="431596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7" name="Text 15"/>
          <p:cNvSpPr txBox="1"/>
          <p:nvPr/>
        </p:nvSpPr>
        <p:spPr>
          <a:xfrm>
            <a:off x="1188720" y="4224528"/>
            <a:ext cx="3840480" cy="347472"/>
          </a:xfrm>
          <a:prstGeom prst="rect">
            <a:avLst/>
          </a:prstGeom>
          <a:noFill/>
          <a:ln/>
        </p:spPr>
        <p:txBody>
          <a:bodyPr wrap="square" lIns="0" tIns="0" rIns="0" bIns="0" rtlCol="0" anchor="t"/>
          <a:lstStyle/>
          <a:p>
            <a:pPr indent="0" marL="0">
              <a:buNone/>
            </a:pPr>
            <a:r>
              <a:rPr lang="en-US" sz="1700" b="1" dirty="0">
                <a:solidFill>
                  <a:schemeClr val="tx1"/>
                </a:solidFill>
              </a:rPr>
              <a:t>Normalise numbers and links</a:t>
            </a:r>
            <a:endParaRPr lang="en-US" sz="1700" dirty="0"/>
          </a:p>
        </p:txBody>
      </p:sp>
      <p:sp>
        <p:nvSpPr>
          <p:cNvPr id="18" name="Text 16"/>
          <p:cNvSpPr txBox="1"/>
          <p:nvPr/>
        </p:nvSpPr>
        <p:spPr>
          <a:xfrm>
            <a:off x="1188720" y="4590288"/>
            <a:ext cx="3840480" cy="320040"/>
          </a:xfrm>
          <a:prstGeom prst="rect">
            <a:avLst/>
          </a:prstGeom>
          <a:noFill/>
          <a:ln/>
        </p:spPr>
        <p:txBody>
          <a:bodyPr wrap="square" lIns="0" tIns="0" rIns="0" bIns="0" rtlCol="0" anchor="t"/>
          <a:lstStyle/>
          <a:p>
            <a:pPr indent="0" marL="0">
              <a:buNone/>
            </a:pPr>
            <a:r>
              <a:rPr lang="en-US" sz="1300" dirty="0">
                <a:solidFill>
                  <a:schemeClr val="accent6"/>
                </a:solidFill>
              </a:rPr>
              <a:t>phone, money and URL tokens</a:t>
            </a:r>
            <a:endParaRPr lang="en-US" sz="1300" dirty="0"/>
          </a:p>
        </p:txBody>
      </p:sp>
      <p:sp>
        <p:nvSpPr>
          <p:cNvPr id="19" name="Step 5 badge"/>
          <p:cNvSpPr/>
          <p:nvPr/>
        </p:nvSpPr>
        <p:spPr>
          <a:xfrm>
            <a:off x="548640" y="5230368"/>
            <a:ext cx="457200" cy="457200"/>
          </a:xfrm>
          <a:prstGeom prst="ellipse">
            <a:avLst/>
          </a:prstGeom>
          <a:solidFill>
            <a:schemeClr val="tx2"/>
          </a:solidFill>
          <a:ln/>
        </p:spPr>
      </p:sp>
      <p:sp>
        <p:nvSpPr>
          <p:cNvPr id="20" name="Step 5 number"/>
          <p:cNvSpPr txBox="1"/>
          <p:nvPr/>
        </p:nvSpPr>
        <p:spPr>
          <a:xfrm>
            <a:off x="548640" y="523036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1" name="Text 19"/>
          <p:cNvSpPr txBox="1"/>
          <p:nvPr/>
        </p:nvSpPr>
        <p:spPr>
          <a:xfrm>
            <a:off x="1188720" y="5138928"/>
            <a:ext cx="3840480" cy="347472"/>
          </a:xfrm>
          <a:prstGeom prst="rect">
            <a:avLst/>
          </a:prstGeom>
          <a:noFill/>
          <a:ln/>
        </p:spPr>
        <p:txBody>
          <a:bodyPr wrap="square" lIns="0" tIns="0" rIns="0" bIns="0" rtlCol="0" anchor="t"/>
          <a:lstStyle/>
          <a:p>
            <a:pPr indent="0" marL="0">
              <a:buNone/>
            </a:pPr>
            <a:r>
              <a:rPr lang="en-US" sz="1700" b="1" dirty="0">
                <a:solidFill>
                  <a:schemeClr val="tx1"/>
                </a:solidFill>
              </a:rPr>
              <a:t>Split 80 / 20, stratified</a:t>
            </a:r>
            <a:endParaRPr lang="en-US" sz="1700" dirty="0"/>
          </a:p>
        </p:txBody>
      </p:sp>
      <p:sp>
        <p:nvSpPr>
          <p:cNvPr id="22" name="Text 20"/>
          <p:cNvSpPr txBox="1"/>
          <p:nvPr/>
        </p:nvSpPr>
        <p:spPr>
          <a:xfrm>
            <a:off x="1188720" y="5504688"/>
            <a:ext cx="3840480" cy="320040"/>
          </a:xfrm>
          <a:prstGeom prst="rect">
            <a:avLst/>
          </a:prstGeom>
          <a:noFill/>
          <a:ln/>
        </p:spPr>
        <p:txBody>
          <a:bodyPr wrap="square" lIns="0" tIns="0" rIns="0" bIns="0" rtlCol="0" anchor="t"/>
          <a:lstStyle/>
          <a:p>
            <a:pPr indent="0" marL="0">
              <a:buNone/>
            </a:pPr>
            <a:r>
              <a:rPr lang="en-US" sz="1300" dirty="0">
                <a:solidFill>
                  <a:schemeClr val="accent6"/>
                </a:solidFill>
              </a:rPr>
              <a:t>4,127 train · 1,032 test · 12.4% spam</a:t>
            </a:r>
            <a:endParaRPr lang="en-US" sz="1300" dirty="0"/>
          </a:p>
        </p:txBody>
      </p:sp>
      <p:graphicFrame>
        <p:nvGraphicFramePr>
          <p:cNvPr id="23" name="Length chart" descr=""/>
          <p:cNvGraphicFramePr/>
          <p:nvPr/>
        </p:nvGraphicFramePr>
        <p:xfrm>
          <a:off x="5303520" y="1325880"/>
          <a:ext cx="6309360" cy="4343400"/>
        </p:xfrm>
        <a:graphic xmlns:a="http://schemas.openxmlformats.org/drawingml/2006/main">
          <a:graphicData uri="http://schemas.openxmlformats.org/drawingml/2006/chart">
            <c:chart xmlns:c="http://schemas.openxmlformats.org/drawingml/2006/chart" r:id="rId1"/>
          </a:graphicData>
        </a:graphic>
      </p:graphicFrame>
      <p:sp>
        <p:nvSpPr>
          <p:cNvPr id="24" name="Text 21"/>
          <p:cNvSpPr txBox="1"/>
          <p:nvPr/>
        </p:nvSpPr>
        <p:spPr>
          <a:xfrm>
            <a:off x="5303520" y="5760720"/>
            <a:ext cx="6309360" cy="365760"/>
          </a:xfrm>
          <a:prstGeom prst="rect">
            <a:avLst/>
          </a:prstGeom>
          <a:noFill/>
          <a:ln/>
        </p:spPr>
        <p:txBody>
          <a:bodyPr wrap="square" lIns="0" tIns="0" rIns="0" bIns="0" rtlCol="0" anchor="t"/>
          <a:lstStyle/>
          <a:p>
            <a:pPr indent="0" marL="0">
              <a:buNone/>
            </a:pPr>
            <a:r>
              <a:rPr lang="en-US" sz="1300" i="1" dirty="0">
                <a:solidFill>
                  <a:schemeClr val="accent6"/>
                </a:solidFill>
              </a:rPr>
              <a:t>Spam fills the 160-character SMS limit: 51% of spam is 140–159 characters long</a:t>
            </a:r>
            <a:endParaRPr lang="en-US" sz="1300" dirty="0"/>
          </a:p>
        </p:txBody>
      </p:sp>
      <p:sp>
        <p:nvSpPr>
          <p:cNvPr id="25" name="Dataset source"/>
          <p:cNvSpPr txBox="1"/>
          <p:nvPr/>
        </p:nvSpPr>
        <p:spPr>
          <a:xfrm>
            <a:off x="548640" y="5943600"/>
            <a:ext cx="4572000" cy="274320"/>
          </a:xfrm>
          <a:prstGeom prst="rect">
            <a:avLst/>
          </a:prstGeom>
          <a:noFill/>
          <a:ln/>
        </p:spPr>
        <p:txBody>
          <a:bodyPr wrap="square" lIns="0" tIns="0" rIns="0" bIns="0" rtlCol="0" anchor="t"/>
          <a:lstStyle/>
          <a:p>
            <a:pPr indent="0" marL="0">
              <a:buNone/>
            </a:pPr>
            <a:r>
              <a:rPr lang="en-US" sz="1100" i="1" dirty="0">
                <a:solidFill>
                  <a:schemeClr val="accent6"/>
                </a:solidFill>
              </a:rPr>
              <a:t>Source: UCI SMS Spam Collection (Almeida, Gómez Hidalgo &amp; Yamakami, 2011)</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Same Bayes rule, different event models</a:t>
            </a:r>
            <a:endParaRPr lang="en-US" sz="3400" dirty="0"/>
          </a:p>
        </p:txBody>
      </p:sp>
      <p:sp>
        <p:nvSpPr>
          <p:cNvPr id="3" name="Equation band"/>
          <p:cNvSpPr/>
          <p:nvPr/>
        </p:nvSpPr>
        <p:spPr>
          <a:xfrm>
            <a:off x="548640" y="1371600"/>
            <a:ext cx="11064240" cy="777240"/>
          </a:xfrm>
          <a:prstGeom prst="roundRect">
            <a:avLst>
              <a:gd name="adj" fmla="val 14118"/>
            </a:avLst>
          </a:prstGeom>
          <a:solidFill>
            <a:schemeClr val="bg2"/>
          </a:solidFill>
          <a:ln/>
        </p:spPr>
      </p:sp>
      <p:sp>
        <p:nvSpPr>
          <p:cNvPr id="4" name="Text 2"/>
          <p:cNvSpPr txBox="1"/>
          <p:nvPr/>
        </p:nvSpPr>
        <p:spPr>
          <a:xfrm>
            <a:off x="822960" y="1463040"/>
            <a:ext cx="5852160" cy="594360"/>
          </a:xfrm>
          <a:prstGeom prst="rect">
            <a:avLst/>
          </a:prstGeom>
          <a:noFill/>
          <a:ln/>
        </p:spPr>
        <p:txBody>
          <a:bodyPr wrap="square" lIns="0" tIns="0" rIns="0" bIns="0" rtlCol="0" anchor="ctr"/>
          <a:lstStyle/>
          <a:p>
            <a:pPr indent="0" marL="0">
              <a:buNone/>
            </a:pPr>
            <a:r>
              <a:rPr lang="en-US" sz="2200" dirty="0">
                <a:solidFill>
                  <a:schemeClr val="tx2"/>
                </a:solidFill>
                <a:latin typeface="Cambria Math" pitchFamily="34" charset="0"/>
                <a:ea typeface="Cambria Math" pitchFamily="34" charset="-122"/>
                <a:cs typeface="Cambria Math" pitchFamily="34" charset="-120"/>
              </a:rPr>
              <a:t>log P(y | x)  =  log P(y)  +  Σ</a:t>
            </a:r>
            <a:pPr indent="0" marL="0">
              <a:buNone/>
            </a:pPr>
            <a:r>
              <a:rPr lang="en-US" sz="2200" baseline="-40000" dirty="0">
                <a:solidFill>
                  <a:schemeClr val="tx2"/>
                </a:solidFill>
                <a:latin typeface="Cambria Math" pitchFamily="34" charset="0"/>
                <a:ea typeface="Cambria Math" pitchFamily="34" charset="-122"/>
                <a:cs typeface="Cambria Math" pitchFamily="34" charset="-120"/>
              </a:rPr>
              <a:t>j</a:t>
            </a:r>
            <a:pPr indent="0" marL="0">
              <a:buNone/>
            </a:pPr>
            <a:r>
              <a:rPr lang="en-US" sz="2200" dirty="0">
                <a:solidFill>
                  <a:schemeClr val="tx2"/>
                </a:solidFill>
                <a:latin typeface="Cambria Math" pitchFamily="34" charset="0"/>
                <a:ea typeface="Cambria Math" pitchFamily="34" charset="-122"/>
                <a:cs typeface="Cambria Math" pitchFamily="34" charset="-120"/>
              </a:rPr>
              <a:t> log P(x</a:t>
            </a:r>
            <a:pPr indent="0" marL="0">
              <a:buNone/>
            </a:pPr>
            <a:r>
              <a:rPr lang="en-US" sz="2200" baseline="-40000" dirty="0">
                <a:solidFill>
                  <a:schemeClr val="tx2"/>
                </a:solidFill>
                <a:latin typeface="Cambria Math" pitchFamily="34" charset="0"/>
                <a:ea typeface="Cambria Math" pitchFamily="34" charset="-122"/>
                <a:cs typeface="Cambria Math" pitchFamily="34" charset="-120"/>
              </a:rPr>
              <a:t>j</a:t>
            </a:r>
            <a:pPr indent="0" marL="0">
              <a:buNone/>
            </a:pPr>
            <a:r>
              <a:rPr lang="en-US" sz="2200" dirty="0">
                <a:solidFill>
                  <a:schemeClr val="tx2"/>
                </a:solidFill>
                <a:latin typeface="Cambria Math" pitchFamily="34" charset="0"/>
                <a:ea typeface="Cambria Math" pitchFamily="34" charset="-122"/>
                <a:cs typeface="Cambria Math" pitchFamily="34" charset="-120"/>
              </a:rPr>
              <a:t> | y)</a:t>
            </a:r>
            <a:endParaRPr lang="en-US" sz="2200" dirty="0"/>
          </a:p>
        </p:txBody>
      </p:sp>
      <p:sp>
        <p:nvSpPr>
          <p:cNvPr id="5" name="Text 3"/>
          <p:cNvSpPr txBox="1"/>
          <p:nvPr/>
        </p:nvSpPr>
        <p:spPr>
          <a:xfrm>
            <a:off x="6675120" y="1463040"/>
            <a:ext cx="4754880" cy="594360"/>
          </a:xfrm>
          <a:prstGeom prst="rect">
            <a:avLst/>
          </a:prstGeom>
          <a:noFill/>
          <a:ln/>
        </p:spPr>
        <p:txBody>
          <a:bodyPr wrap="square" lIns="0" tIns="0" rIns="0" bIns="0" rtlCol="0" anchor="ctr"/>
          <a:lstStyle/>
          <a:p>
            <a:pPr indent="0" marL="0">
              <a:buNone/>
            </a:pPr>
            <a:r>
              <a:rPr lang="en-US" sz="1400" dirty="0">
                <a:solidFill>
                  <a:schemeClr val="accent6"/>
                </a:solidFill>
              </a:rPr>
              <a:t>The models differ only in P(x</a:t>
            </a:r>
            <a:pPr indent="0" marL="0">
              <a:buNone/>
            </a:pPr>
            <a:r>
              <a:rPr lang="en-US" sz="1400" baseline="-40000" dirty="0">
                <a:solidFill>
                  <a:schemeClr val="accent6"/>
                </a:solidFill>
              </a:rPr>
              <a:t>j</a:t>
            </a:r>
            <a:pPr indent="0" marL="0">
              <a:buNone/>
            </a:pPr>
            <a:r>
              <a:rPr lang="en-US" sz="1400" dirty="0">
                <a:solidFill>
                  <a:schemeClr val="accent6"/>
                </a:solidFill>
              </a:rPr>
              <a:t> | y), the shape assumed for each feature</a:t>
            </a:r>
            <a:endParaRPr lang="en-US" sz="1400" dirty="0"/>
          </a:p>
        </p:txBody>
      </p:sp>
      <p:sp>
        <p:nvSpPr>
          <p:cNvPr id="6" name="Multinomial NB card"/>
          <p:cNvSpPr/>
          <p:nvPr/>
        </p:nvSpPr>
        <p:spPr>
          <a:xfrm>
            <a:off x="548640" y="2423160"/>
            <a:ext cx="2606040" cy="2926080"/>
          </a:xfrm>
          <a:prstGeom prst="roundRect">
            <a:avLst>
              <a:gd name="adj" fmla="val 4211"/>
            </a:avLst>
          </a:prstGeom>
          <a:solidFill>
            <a:schemeClr val="bg2"/>
          </a:solidFill>
          <a:ln/>
        </p:spPr>
      </p:sp>
      <p:sp>
        <p:nvSpPr>
          <p:cNvPr id="7" name="Multinomial NB colour key"/>
          <p:cNvSpPr/>
          <p:nvPr/>
        </p:nvSpPr>
        <p:spPr>
          <a:xfrm>
            <a:off x="777240" y="2670048"/>
            <a:ext cx="201168" cy="201168"/>
          </a:xfrm>
          <a:prstGeom prst="ellipse">
            <a:avLst/>
          </a:prstGeom>
          <a:solidFill>
            <a:schemeClr val="accent2"/>
          </a:solidFill>
          <a:ln/>
        </p:spPr>
      </p:sp>
      <p:sp>
        <p:nvSpPr>
          <p:cNvPr id="8" name="Text 6"/>
          <p:cNvSpPr txBox="1"/>
          <p:nvPr/>
        </p:nvSpPr>
        <p:spPr>
          <a:xfrm>
            <a:off x="1097280" y="2587752"/>
            <a:ext cx="1920240" cy="365760"/>
          </a:xfrm>
          <a:prstGeom prst="rect">
            <a:avLst/>
          </a:prstGeom>
          <a:noFill/>
          <a:ln/>
        </p:spPr>
        <p:txBody>
          <a:bodyPr wrap="square" lIns="0" tIns="0" rIns="0" bIns="0" rtlCol="0" anchor="t"/>
          <a:lstStyle/>
          <a:p>
            <a:pPr indent="0" marL="0">
              <a:buNone/>
            </a:pPr>
            <a:r>
              <a:rPr lang="en-US" sz="1800" b="1" dirty="0">
                <a:solidFill>
                  <a:schemeClr val="tx1"/>
                </a:solidFill>
              </a:rPr>
              <a:t>Multinomial NB</a:t>
            </a:r>
            <a:endParaRPr lang="en-US" sz="1800" dirty="0"/>
          </a:p>
        </p:txBody>
      </p:sp>
      <p:sp>
        <p:nvSpPr>
          <p:cNvPr id="9" name="Text 7"/>
          <p:cNvSpPr txBox="1"/>
          <p:nvPr/>
        </p:nvSpPr>
        <p:spPr>
          <a:xfrm>
            <a:off x="777240" y="3017520"/>
            <a:ext cx="2194560" cy="292608"/>
          </a:xfrm>
          <a:prstGeom prst="rect">
            <a:avLst/>
          </a:prstGeom>
          <a:noFill/>
          <a:ln/>
        </p:spPr>
        <p:txBody>
          <a:bodyPr wrap="square" lIns="0" tIns="0" rIns="0" bIns="0" rtlCol="0" anchor="t"/>
          <a:lstStyle/>
          <a:p>
            <a:pPr indent="0" marL="0">
              <a:buNone/>
            </a:pPr>
            <a:r>
              <a:rPr lang="en-US" sz="1300" i="1" dirty="0">
                <a:solidFill>
                  <a:schemeClr val="accent6"/>
                </a:solidFill>
              </a:rPr>
              <a:t>word counts</a:t>
            </a:r>
            <a:endParaRPr lang="en-US" sz="1300" dirty="0"/>
          </a:p>
        </p:txBody>
      </p:sp>
      <p:sp>
        <p:nvSpPr>
          <p:cNvPr id="10" name="Text 8"/>
          <p:cNvSpPr txBox="1"/>
          <p:nvPr/>
        </p:nvSpPr>
        <p:spPr>
          <a:xfrm>
            <a:off x="777240" y="3429000"/>
            <a:ext cx="2194560" cy="1188720"/>
          </a:xfrm>
          <a:prstGeom prst="rect">
            <a:avLst/>
          </a:prstGeom>
          <a:noFill/>
          <a:ln/>
        </p:spPr>
        <p:txBody>
          <a:bodyPr wrap="square" lIns="0" tIns="0" rIns="0" bIns="0" rtlCol="0" anchor="t"/>
          <a:lstStyle/>
          <a:p>
            <a:pPr indent="0" marL="0">
              <a:buNone/>
            </a:pPr>
            <a:r>
              <a:rPr lang="en-US" sz="1400" dirty="0">
                <a:solidFill>
                  <a:schemeClr val="tx1"/>
                </a:solidFill>
              </a:rPr>
              <a:t>Each word is drawn from a class-specific word distribution; smoothing α avoids zero probabilities.</a:t>
            </a:r>
            <a:endParaRPr lang="en-US" sz="1400" dirty="0"/>
          </a:p>
        </p:txBody>
      </p:sp>
      <p:sp>
        <p:nvSpPr>
          <p:cNvPr id="11" name="Text 9"/>
          <p:cNvSpPr txBox="1"/>
          <p:nvPr/>
        </p:nvSpPr>
        <p:spPr>
          <a:xfrm>
            <a:off x="777240" y="4663440"/>
            <a:ext cx="2194560" cy="548640"/>
          </a:xfrm>
          <a:prstGeom prst="rect">
            <a:avLst/>
          </a:prstGeom>
          <a:noFill/>
          <a:ln/>
        </p:spPr>
        <p:txBody>
          <a:bodyPr wrap="square" lIns="0" tIns="0" rIns="0" bIns="0" rtlCol="0" anchor="t"/>
          <a:lstStyle/>
          <a:p>
            <a:pPr indent="0" marL="0">
              <a:buNone/>
            </a:pPr>
            <a:r>
              <a:rPr lang="en-US" sz="1200" b="1" dirty="0">
                <a:solidFill>
                  <a:schemeClr val="accent6"/>
                </a:solidFill>
              </a:rPr>
              <a:t>Used for: Message words</a:t>
            </a:r>
            <a:endParaRPr lang="en-US" sz="1200" dirty="0"/>
          </a:p>
        </p:txBody>
      </p:sp>
      <p:sp>
        <p:nvSpPr>
          <p:cNvPr id="12" name="Bernoulli NB card"/>
          <p:cNvSpPr/>
          <p:nvPr/>
        </p:nvSpPr>
        <p:spPr>
          <a:xfrm>
            <a:off x="3383280" y="2423160"/>
            <a:ext cx="2606040" cy="2926080"/>
          </a:xfrm>
          <a:prstGeom prst="roundRect">
            <a:avLst>
              <a:gd name="adj" fmla="val 4211"/>
            </a:avLst>
          </a:prstGeom>
          <a:solidFill>
            <a:schemeClr val="bg2"/>
          </a:solidFill>
          <a:ln/>
        </p:spPr>
      </p:sp>
      <p:sp>
        <p:nvSpPr>
          <p:cNvPr id="13" name="Bernoulli NB colour key"/>
          <p:cNvSpPr/>
          <p:nvPr/>
        </p:nvSpPr>
        <p:spPr>
          <a:xfrm>
            <a:off x="3611880" y="2670048"/>
            <a:ext cx="201168" cy="201168"/>
          </a:xfrm>
          <a:prstGeom prst="ellipse">
            <a:avLst/>
          </a:prstGeom>
          <a:solidFill>
            <a:schemeClr val="accent1"/>
          </a:solidFill>
          <a:ln/>
        </p:spPr>
      </p:sp>
      <p:sp>
        <p:nvSpPr>
          <p:cNvPr id="14" name="Text 12"/>
          <p:cNvSpPr txBox="1"/>
          <p:nvPr/>
        </p:nvSpPr>
        <p:spPr>
          <a:xfrm>
            <a:off x="3931920" y="2587752"/>
            <a:ext cx="1920240" cy="365760"/>
          </a:xfrm>
          <a:prstGeom prst="rect">
            <a:avLst/>
          </a:prstGeom>
          <a:noFill/>
          <a:ln/>
        </p:spPr>
        <p:txBody>
          <a:bodyPr wrap="square" lIns="0" tIns="0" rIns="0" bIns="0" rtlCol="0" anchor="t"/>
          <a:lstStyle/>
          <a:p>
            <a:pPr indent="0" marL="0">
              <a:buNone/>
            </a:pPr>
            <a:r>
              <a:rPr lang="en-US" sz="1800" b="1" dirty="0">
                <a:solidFill>
                  <a:schemeClr val="tx1"/>
                </a:solidFill>
              </a:rPr>
              <a:t>Bernoulli NB</a:t>
            </a:r>
            <a:endParaRPr lang="en-US" sz="1800" dirty="0"/>
          </a:p>
        </p:txBody>
      </p:sp>
      <p:sp>
        <p:nvSpPr>
          <p:cNvPr id="15" name="Text 13"/>
          <p:cNvSpPr txBox="1"/>
          <p:nvPr/>
        </p:nvSpPr>
        <p:spPr>
          <a:xfrm>
            <a:off x="3611880" y="3017520"/>
            <a:ext cx="2194560" cy="292608"/>
          </a:xfrm>
          <a:prstGeom prst="rect">
            <a:avLst/>
          </a:prstGeom>
          <a:noFill/>
          <a:ln/>
        </p:spPr>
        <p:txBody>
          <a:bodyPr wrap="square" lIns="0" tIns="0" rIns="0" bIns="0" rtlCol="0" anchor="t"/>
          <a:lstStyle/>
          <a:p>
            <a:pPr indent="0" marL="0">
              <a:buNone/>
            </a:pPr>
            <a:r>
              <a:rPr lang="en-US" sz="1300" i="1" dirty="0">
                <a:solidFill>
                  <a:schemeClr val="accent6"/>
                </a:solidFill>
              </a:rPr>
              <a:t>word presence</a:t>
            </a:r>
            <a:endParaRPr lang="en-US" sz="1300" dirty="0"/>
          </a:p>
        </p:txBody>
      </p:sp>
      <p:sp>
        <p:nvSpPr>
          <p:cNvPr id="16" name="Text 14"/>
          <p:cNvSpPr txBox="1"/>
          <p:nvPr/>
        </p:nvSpPr>
        <p:spPr>
          <a:xfrm>
            <a:off x="3611880" y="3429000"/>
            <a:ext cx="2194560" cy="1188720"/>
          </a:xfrm>
          <a:prstGeom prst="rect">
            <a:avLst/>
          </a:prstGeom>
          <a:noFill/>
          <a:ln/>
        </p:spPr>
        <p:txBody>
          <a:bodyPr wrap="square" lIns="0" tIns="0" rIns="0" bIns="0" rtlCol="0" anchor="t"/>
          <a:lstStyle/>
          <a:p>
            <a:pPr indent="0" marL="0">
              <a:buNone/>
            </a:pPr>
            <a:r>
              <a:rPr lang="en-US" sz="1400" dirty="0">
                <a:solidFill>
                  <a:schemeClr val="tx1"/>
                </a:solidFill>
              </a:rPr>
              <a:t>Asks only which words appear, and also scores the absence of spam words.</a:t>
            </a:r>
            <a:endParaRPr lang="en-US" sz="1400" dirty="0"/>
          </a:p>
        </p:txBody>
      </p:sp>
      <p:sp>
        <p:nvSpPr>
          <p:cNvPr id="17" name="Text 15"/>
          <p:cNvSpPr txBox="1"/>
          <p:nvPr/>
        </p:nvSpPr>
        <p:spPr>
          <a:xfrm>
            <a:off x="3611880" y="4663440"/>
            <a:ext cx="2194560" cy="548640"/>
          </a:xfrm>
          <a:prstGeom prst="rect">
            <a:avLst/>
          </a:prstGeom>
          <a:noFill/>
          <a:ln/>
        </p:spPr>
        <p:txBody>
          <a:bodyPr wrap="square" lIns="0" tIns="0" rIns="0" bIns="0" rtlCol="0" anchor="t"/>
          <a:lstStyle/>
          <a:p>
            <a:pPr indent="0" marL="0">
              <a:buNone/>
            </a:pPr>
            <a:r>
              <a:rPr lang="en-US" sz="1200" b="1" dirty="0">
                <a:solidFill>
                  <a:schemeClr val="accent6"/>
                </a:solidFill>
              </a:rPr>
              <a:t>Used for: Message words</a:t>
            </a:r>
            <a:endParaRPr lang="en-US" sz="1200" dirty="0"/>
          </a:p>
        </p:txBody>
      </p:sp>
      <p:sp>
        <p:nvSpPr>
          <p:cNvPr id="18" name="Gaussian NB card"/>
          <p:cNvSpPr/>
          <p:nvPr/>
        </p:nvSpPr>
        <p:spPr>
          <a:xfrm>
            <a:off x="6217920" y="2423160"/>
            <a:ext cx="2606040" cy="2926080"/>
          </a:xfrm>
          <a:prstGeom prst="roundRect">
            <a:avLst>
              <a:gd name="adj" fmla="val 4211"/>
            </a:avLst>
          </a:prstGeom>
          <a:solidFill>
            <a:schemeClr val="bg2"/>
          </a:solidFill>
          <a:ln/>
        </p:spPr>
      </p:sp>
      <p:sp>
        <p:nvSpPr>
          <p:cNvPr id="19" name="Gaussian NB colour key"/>
          <p:cNvSpPr/>
          <p:nvPr/>
        </p:nvSpPr>
        <p:spPr>
          <a:xfrm>
            <a:off x="6446520" y="2670048"/>
            <a:ext cx="201168" cy="201168"/>
          </a:xfrm>
          <a:prstGeom prst="ellipse">
            <a:avLst/>
          </a:prstGeom>
          <a:solidFill>
            <a:schemeClr val="accent3"/>
          </a:solidFill>
          <a:ln/>
        </p:spPr>
      </p:sp>
      <p:sp>
        <p:nvSpPr>
          <p:cNvPr id="20" name="Text 18"/>
          <p:cNvSpPr txBox="1"/>
          <p:nvPr/>
        </p:nvSpPr>
        <p:spPr>
          <a:xfrm>
            <a:off x="6766560" y="2587752"/>
            <a:ext cx="1920240" cy="365760"/>
          </a:xfrm>
          <a:prstGeom prst="rect">
            <a:avLst/>
          </a:prstGeom>
          <a:noFill/>
          <a:ln/>
        </p:spPr>
        <p:txBody>
          <a:bodyPr wrap="square" lIns="0" tIns="0" rIns="0" bIns="0" rtlCol="0" anchor="t"/>
          <a:lstStyle/>
          <a:p>
            <a:pPr indent="0" marL="0">
              <a:buNone/>
            </a:pPr>
            <a:r>
              <a:rPr lang="en-US" sz="1800" b="1" dirty="0">
                <a:solidFill>
                  <a:schemeClr val="tx1"/>
                </a:solidFill>
              </a:rPr>
              <a:t>Gaussian NB</a:t>
            </a:r>
            <a:endParaRPr lang="en-US" sz="1800" dirty="0"/>
          </a:p>
        </p:txBody>
      </p:sp>
      <p:sp>
        <p:nvSpPr>
          <p:cNvPr id="21" name="Text 19"/>
          <p:cNvSpPr txBox="1"/>
          <p:nvPr/>
        </p:nvSpPr>
        <p:spPr>
          <a:xfrm>
            <a:off x="6446520" y="3017520"/>
            <a:ext cx="2194560" cy="292608"/>
          </a:xfrm>
          <a:prstGeom prst="rect">
            <a:avLst/>
          </a:prstGeom>
          <a:noFill/>
          <a:ln/>
        </p:spPr>
        <p:txBody>
          <a:bodyPr wrap="square" lIns="0" tIns="0" rIns="0" bIns="0" rtlCol="0" anchor="t"/>
          <a:lstStyle/>
          <a:p>
            <a:pPr indent="0" marL="0">
              <a:buNone/>
            </a:pPr>
            <a:r>
              <a:rPr lang="en-US" sz="1300" i="1" dirty="0">
                <a:solidFill>
                  <a:schemeClr val="accent6"/>
                </a:solidFill>
              </a:rPr>
              <a:t>continuous values</a:t>
            </a:r>
            <a:endParaRPr lang="en-US" sz="1300" dirty="0"/>
          </a:p>
        </p:txBody>
      </p:sp>
      <p:sp>
        <p:nvSpPr>
          <p:cNvPr id="22" name="Text 20"/>
          <p:cNvSpPr txBox="1"/>
          <p:nvPr/>
        </p:nvSpPr>
        <p:spPr>
          <a:xfrm>
            <a:off x="6446520" y="3429000"/>
            <a:ext cx="2194560" cy="1188720"/>
          </a:xfrm>
          <a:prstGeom prst="rect">
            <a:avLst/>
          </a:prstGeom>
          <a:noFill/>
          <a:ln/>
        </p:spPr>
        <p:txBody>
          <a:bodyPr wrap="square" lIns="0" tIns="0" rIns="0" bIns="0" rtlCol="0" anchor="t"/>
          <a:lstStyle/>
          <a:p>
            <a:pPr indent="0" marL="0">
              <a:buNone/>
            </a:pPr>
            <a:r>
              <a:rPr lang="en-US" sz="1400" dirty="0">
                <a:solidFill>
                  <a:schemeClr val="tx1"/>
                </a:solidFill>
              </a:rPr>
              <a:t>One bell curve per feature and class, fitted after log(1 + x).</a:t>
            </a:r>
            <a:endParaRPr lang="en-US" sz="1400" dirty="0"/>
          </a:p>
        </p:txBody>
      </p:sp>
      <p:sp>
        <p:nvSpPr>
          <p:cNvPr id="23" name="Text 21"/>
          <p:cNvSpPr txBox="1"/>
          <p:nvPr/>
        </p:nvSpPr>
        <p:spPr>
          <a:xfrm>
            <a:off x="6446520" y="4663440"/>
            <a:ext cx="2194560" cy="548640"/>
          </a:xfrm>
          <a:prstGeom prst="rect">
            <a:avLst/>
          </a:prstGeom>
          <a:noFill/>
          <a:ln/>
        </p:spPr>
        <p:txBody>
          <a:bodyPr wrap="square" lIns="0" tIns="0" rIns="0" bIns="0" rtlCol="0" anchor="t"/>
          <a:lstStyle/>
          <a:p>
            <a:pPr indent="0" marL="0">
              <a:buNone/>
            </a:pPr>
            <a:r>
              <a:rPr lang="en-US" sz="1200" b="1" dirty="0">
                <a:solidFill>
                  <a:schemeClr val="accent6"/>
                </a:solidFill>
              </a:rPr>
              <a:t>Used for: 8 statistics: length, digits, capitals, £, links…</a:t>
            </a:r>
            <a:endParaRPr lang="en-US" sz="1200" dirty="0"/>
          </a:p>
        </p:txBody>
      </p:sp>
      <p:sp>
        <p:nvSpPr>
          <p:cNvPr id="24" name="Hybrid NB card"/>
          <p:cNvSpPr/>
          <p:nvPr/>
        </p:nvSpPr>
        <p:spPr>
          <a:xfrm>
            <a:off x="9052560" y="2423160"/>
            <a:ext cx="2606040" cy="2926080"/>
          </a:xfrm>
          <a:prstGeom prst="roundRect">
            <a:avLst>
              <a:gd name="adj" fmla="val 4211"/>
            </a:avLst>
          </a:prstGeom>
          <a:solidFill>
            <a:schemeClr val="bg2"/>
          </a:solidFill>
          <a:ln/>
        </p:spPr>
      </p:sp>
      <p:sp>
        <p:nvSpPr>
          <p:cNvPr id="25" name="Hybrid NB colour key"/>
          <p:cNvSpPr/>
          <p:nvPr/>
        </p:nvSpPr>
        <p:spPr>
          <a:xfrm>
            <a:off x="9281160" y="2670048"/>
            <a:ext cx="201168" cy="201168"/>
          </a:xfrm>
          <a:prstGeom prst="ellipse">
            <a:avLst/>
          </a:prstGeom>
          <a:solidFill>
            <a:schemeClr val="accent5"/>
          </a:solidFill>
          <a:ln/>
        </p:spPr>
      </p:sp>
      <p:sp>
        <p:nvSpPr>
          <p:cNvPr id="26" name="Text 24"/>
          <p:cNvSpPr txBox="1"/>
          <p:nvPr/>
        </p:nvSpPr>
        <p:spPr>
          <a:xfrm>
            <a:off x="9601200" y="2587752"/>
            <a:ext cx="1920240" cy="365760"/>
          </a:xfrm>
          <a:prstGeom prst="rect">
            <a:avLst/>
          </a:prstGeom>
          <a:noFill/>
          <a:ln/>
        </p:spPr>
        <p:txBody>
          <a:bodyPr wrap="square" lIns="0" tIns="0" rIns="0" bIns="0" rtlCol="0" anchor="t"/>
          <a:lstStyle/>
          <a:p>
            <a:pPr indent="0" marL="0">
              <a:buNone/>
            </a:pPr>
            <a:r>
              <a:rPr lang="en-US" sz="1800" b="1" dirty="0">
                <a:solidFill>
                  <a:schemeClr val="tx1"/>
                </a:solidFill>
              </a:rPr>
              <a:t>Hybrid NB</a:t>
            </a:r>
            <a:endParaRPr lang="en-US" sz="1800" dirty="0"/>
          </a:p>
        </p:txBody>
      </p:sp>
      <p:sp>
        <p:nvSpPr>
          <p:cNvPr id="27" name="Text 25"/>
          <p:cNvSpPr txBox="1"/>
          <p:nvPr/>
        </p:nvSpPr>
        <p:spPr>
          <a:xfrm>
            <a:off x="9281160" y="3017520"/>
            <a:ext cx="2194560" cy="292608"/>
          </a:xfrm>
          <a:prstGeom prst="rect">
            <a:avLst/>
          </a:prstGeom>
          <a:noFill/>
          <a:ln/>
        </p:spPr>
        <p:txBody>
          <a:bodyPr wrap="square" lIns="0" tIns="0" rIns="0" bIns="0" rtlCol="0" anchor="t"/>
          <a:lstStyle/>
          <a:p>
            <a:pPr indent="0" marL="0">
              <a:buNone/>
            </a:pPr>
            <a:r>
              <a:rPr lang="en-US" sz="1300" i="1" dirty="0">
                <a:solidFill>
                  <a:schemeClr val="accent6"/>
                </a:solidFill>
              </a:rPr>
              <a:t>words + statistics</a:t>
            </a:r>
            <a:endParaRPr lang="en-US" sz="1300" dirty="0"/>
          </a:p>
        </p:txBody>
      </p:sp>
      <p:sp>
        <p:nvSpPr>
          <p:cNvPr id="28" name="Text 26"/>
          <p:cNvSpPr txBox="1"/>
          <p:nvPr/>
        </p:nvSpPr>
        <p:spPr>
          <a:xfrm>
            <a:off x="9281160" y="3429000"/>
            <a:ext cx="2194560" cy="1188720"/>
          </a:xfrm>
          <a:prstGeom prst="rect">
            <a:avLst/>
          </a:prstGeom>
          <a:noFill/>
          <a:ln/>
        </p:spPr>
        <p:txBody>
          <a:bodyPr wrap="square" lIns="0" tIns="0" rIns="0" bIns="0" rtlCol="0" anchor="t"/>
          <a:lstStyle/>
          <a:p>
            <a:pPr indent="0" marL="0">
              <a:buNone/>
            </a:pPr>
            <a:r>
              <a:rPr lang="en-US" sz="1400" dirty="0">
                <a:solidFill>
                  <a:schemeClr val="tx1"/>
                </a:solidFill>
              </a:rPr>
              <a:t>Adds the multinomial and Gaussian log-likelihoods; the prior is counted once.</a:t>
            </a:r>
            <a:endParaRPr lang="en-US" sz="1400" dirty="0"/>
          </a:p>
        </p:txBody>
      </p:sp>
      <p:sp>
        <p:nvSpPr>
          <p:cNvPr id="29" name="Text 27"/>
          <p:cNvSpPr txBox="1"/>
          <p:nvPr/>
        </p:nvSpPr>
        <p:spPr>
          <a:xfrm>
            <a:off x="9281160" y="4663440"/>
            <a:ext cx="2194560" cy="548640"/>
          </a:xfrm>
          <a:prstGeom prst="rect">
            <a:avLst/>
          </a:prstGeom>
          <a:noFill/>
          <a:ln/>
        </p:spPr>
        <p:txBody>
          <a:bodyPr wrap="square" lIns="0" tIns="0" rIns="0" bIns="0" rtlCol="0" anchor="t"/>
          <a:lstStyle/>
          <a:p>
            <a:pPr indent="0" marL="0">
              <a:buNone/>
            </a:pPr>
            <a:r>
              <a:rPr lang="en-US" sz="1200" b="1" dirty="0">
                <a:solidFill>
                  <a:schemeClr val="accent6"/>
                </a:solidFill>
              </a:rPr>
              <a:t>Used for: Both at once</a:t>
            </a:r>
            <a:endParaRPr lang="en-US" sz="1200" dirty="0"/>
          </a:p>
        </p:txBody>
      </p:sp>
      <p:sp>
        <p:nvSpPr>
          <p:cNvPr id="30" name="Text 28"/>
          <p:cNvSpPr txBox="1"/>
          <p:nvPr/>
        </p:nvSpPr>
        <p:spPr>
          <a:xfrm>
            <a:off x="548640" y="5532120"/>
            <a:ext cx="11064240" cy="640080"/>
          </a:xfrm>
          <a:prstGeom prst="rect">
            <a:avLst/>
          </a:prstGeom>
          <a:noFill/>
          <a:ln/>
        </p:spPr>
        <p:txBody>
          <a:bodyPr wrap="square" lIns="0" tIns="0" rIns="0" bIns="0" rtlCol="0" anchor="t"/>
          <a:lstStyle/>
          <a:p>
            <a:pPr indent="0" marL="0">
              <a:buNone/>
            </a:pPr>
            <a:r>
              <a:rPr lang="en-US" sz="1400" b="1" dirty="0">
                <a:solidFill>
                  <a:schemeClr val="tx1"/>
                </a:solidFill>
              </a:rPr>
              <a:t>Protocol  </a:t>
            </a:r>
            <a:pPr indent="0" marL="0">
              <a:buNone/>
            </a:pPr>
            <a:r>
              <a:rPr lang="en-US" sz="1400" dirty="0">
                <a:solidFill>
                  <a:schemeClr val="accent6"/>
                </a:solidFill>
              </a:rPr>
              <a:t>5-fold cross-validation on the training set tunes α, variance smoothing and n-grams (scored by spam F1); the test set is opened once. Multinomial NB written from scratch matches scikit-learn to within 1.4 × 10</a:t>
            </a:r>
            <a:pPr indent="0" marL="0">
              <a:buNone/>
            </a:pPr>
            <a:r>
              <a:rPr lang="en-US" sz="1400" baseline="30000" dirty="0">
                <a:solidFill>
                  <a:schemeClr val="accent6"/>
                </a:solidFill>
              </a:rPr>
              <a:t>-14</a:t>
            </a:r>
            <a:pPr indent="0" marL="0">
              <a:buNone/>
            </a:pPr>
            <a:r>
              <a:rPr lang="en-US" sz="1400" dirty="0">
                <a:solidFill>
                  <a:schemeClr val="accent6"/>
                </a:solidFill>
              </a:rPr>
              <a:t>.</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Final filter: no false alarms, 88% of spam caught</a:t>
            </a:r>
            <a:endParaRPr lang="en-US" sz="3400" dirty="0"/>
          </a:p>
        </p:txBody>
      </p:sp>
      <p:graphicFrame>
        <p:nvGraphicFramePr>
          <p:cNvPr id="3" name="F1 chart" descr=""/>
          <p:cNvGraphicFramePr/>
          <p:nvPr/>
        </p:nvGraphicFramePr>
        <p:xfrm>
          <a:off x="457200" y="1325880"/>
          <a:ext cx="704088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955280" y="1417320"/>
            <a:ext cx="3657600" cy="777240"/>
          </a:xfrm>
          <a:prstGeom prst="rect">
            <a:avLst/>
          </a:prstGeom>
          <a:noFill/>
          <a:ln/>
        </p:spPr>
        <p:txBody>
          <a:bodyPr wrap="square" lIns="0" tIns="0" rIns="0" bIns="0" rtlCol="0" anchor="t"/>
          <a:lstStyle/>
          <a:p>
            <a:pPr indent="0" marL="0">
              <a:buNone/>
            </a:pPr>
            <a:r>
              <a:rPr lang="en-US" sz="4400" b="1" dirty="0">
                <a:solidFill>
                  <a:schemeClr val="accent1"/>
                </a:solidFill>
              </a:rPr>
              <a:t>0 / 904</a:t>
            </a:r>
            <a:endParaRPr lang="en-US" sz="4400" dirty="0"/>
          </a:p>
        </p:txBody>
      </p:sp>
      <p:sp>
        <p:nvSpPr>
          <p:cNvPr id="5" name="Text 2"/>
          <p:cNvSpPr txBox="1"/>
          <p:nvPr/>
        </p:nvSpPr>
        <p:spPr>
          <a:xfrm>
            <a:off x="7955280" y="2194560"/>
            <a:ext cx="3657600" cy="548640"/>
          </a:xfrm>
          <a:prstGeom prst="rect">
            <a:avLst/>
          </a:prstGeom>
          <a:noFill/>
          <a:ln/>
        </p:spPr>
        <p:txBody>
          <a:bodyPr wrap="square" lIns="0" tIns="0" rIns="0" bIns="0" rtlCol="0" anchor="t"/>
          <a:lstStyle/>
          <a:p>
            <a:pPr indent="0" marL="0">
              <a:buNone/>
            </a:pPr>
            <a:r>
              <a:rPr lang="en-US" sz="1400" dirty="0">
                <a:solidFill>
                  <a:schemeClr val="accent6"/>
                </a:solidFill>
              </a:rPr>
              <a:t>legitimate messages flagged as spam</a:t>
            </a:r>
            <a:endParaRPr lang="en-US" sz="1400" dirty="0"/>
          </a:p>
        </p:txBody>
      </p:sp>
      <p:sp>
        <p:nvSpPr>
          <p:cNvPr id="6" name="Text 3"/>
          <p:cNvSpPr txBox="1"/>
          <p:nvPr/>
        </p:nvSpPr>
        <p:spPr>
          <a:xfrm>
            <a:off x="7955280" y="2880360"/>
            <a:ext cx="3657600" cy="777240"/>
          </a:xfrm>
          <a:prstGeom prst="rect">
            <a:avLst/>
          </a:prstGeom>
          <a:noFill/>
          <a:ln/>
        </p:spPr>
        <p:txBody>
          <a:bodyPr wrap="square" lIns="0" tIns="0" rIns="0" bIns="0" rtlCol="0" anchor="t"/>
          <a:lstStyle/>
          <a:p>
            <a:pPr indent="0" marL="0">
              <a:buNone/>
            </a:pPr>
            <a:r>
              <a:rPr lang="en-US" sz="4400" b="1" dirty="0">
                <a:solidFill>
                  <a:schemeClr val="tx1"/>
                </a:solidFill>
              </a:rPr>
              <a:t>112 / 128</a:t>
            </a:r>
            <a:endParaRPr lang="en-US" sz="4400" dirty="0"/>
          </a:p>
        </p:txBody>
      </p:sp>
      <p:sp>
        <p:nvSpPr>
          <p:cNvPr id="7" name="Text 4"/>
          <p:cNvSpPr txBox="1"/>
          <p:nvPr/>
        </p:nvSpPr>
        <p:spPr>
          <a:xfrm>
            <a:off x="7955280" y="3657600"/>
            <a:ext cx="3657600" cy="548640"/>
          </a:xfrm>
          <a:prstGeom prst="rect">
            <a:avLst/>
          </a:prstGeom>
          <a:noFill/>
          <a:ln/>
        </p:spPr>
        <p:txBody>
          <a:bodyPr wrap="square" lIns="0" tIns="0" rIns="0" bIns="0" rtlCol="0" anchor="t"/>
          <a:lstStyle/>
          <a:p>
            <a:pPr indent="0" marL="0">
              <a:buNone/>
            </a:pPr>
            <a:r>
              <a:rPr lang="en-US" sz="1400" dirty="0">
                <a:solidFill>
                  <a:schemeClr val="accent6"/>
                </a:solidFill>
              </a:rPr>
              <a:t>spam caught (recall 87.5%)</a:t>
            </a:r>
            <a:endParaRPr lang="en-US" sz="1400" dirty="0"/>
          </a:p>
        </p:txBody>
      </p:sp>
      <p:sp>
        <p:nvSpPr>
          <p:cNvPr id="8" name="Text 5"/>
          <p:cNvSpPr txBox="1"/>
          <p:nvPr/>
        </p:nvSpPr>
        <p:spPr>
          <a:xfrm>
            <a:off x="7955280" y="4343400"/>
            <a:ext cx="3657600" cy="777240"/>
          </a:xfrm>
          <a:prstGeom prst="rect">
            <a:avLst/>
          </a:prstGeom>
          <a:noFill/>
          <a:ln/>
        </p:spPr>
        <p:txBody>
          <a:bodyPr wrap="square" lIns="0" tIns="0" rIns="0" bIns="0" rtlCol="0" anchor="t"/>
          <a:lstStyle/>
          <a:p>
            <a:pPr indent="0" marL="0">
              <a:buNone/>
            </a:pPr>
            <a:r>
              <a:rPr lang="en-US" sz="4400" b="1" dirty="0">
                <a:solidFill>
                  <a:schemeClr val="tx1"/>
                </a:solidFill>
              </a:rPr>
              <a:t>0.933</a:t>
            </a:r>
            <a:endParaRPr lang="en-US" sz="4400" dirty="0"/>
          </a:p>
        </p:txBody>
      </p:sp>
      <p:sp>
        <p:nvSpPr>
          <p:cNvPr id="9" name="Text 6"/>
          <p:cNvSpPr txBox="1"/>
          <p:nvPr/>
        </p:nvSpPr>
        <p:spPr>
          <a:xfrm>
            <a:off x="7955280" y="5120640"/>
            <a:ext cx="3657600" cy="548640"/>
          </a:xfrm>
          <a:prstGeom prst="rect">
            <a:avLst/>
          </a:prstGeom>
          <a:noFill/>
          <a:ln/>
        </p:spPr>
        <p:txBody>
          <a:bodyPr wrap="square" lIns="0" tIns="0" rIns="0" bIns="0" rtlCol="0" anchor="t"/>
          <a:lstStyle/>
          <a:p>
            <a:pPr indent="0" marL="0">
              <a:buNone/>
            </a:pPr>
            <a:r>
              <a:rPr lang="en-US" sz="1400" dirty="0">
                <a:solidFill>
                  <a:schemeClr val="accent6"/>
                </a:solidFill>
              </a:rPr>
              <a:t>F1, 95% CI 0.896–0.964; multinomial NB ties at 0.935</a:t>
            </a:r>
            <a:endParaRPr lang="en-US" sz="1400" dirty="0"/>
          </a:p>
        </p:txBody>
      </p:sp>
      <p:sp>
        <p:nvSpPr>
          <p:cNvPr id="10" name="Text 7"/>
          <p:cNvSpPr txBox="1"/>
          <p:nvPr/>
        </p:nvSpPr>
        <p:spPr>
          <a:xfrm>
            <a:off x="548640" y="5897880"/>
            <a:ext cx="11064240" cy="320040"/>
          </a:xfrm>
          <a:prstGeom prst="rect">
            <a:avLst/>
          </a:prstGeom>
          <a:noFill/>
          <a:ln/>
        </p:spPr>
        <p:txBody>
          <a:bodyPr wrap="square" lIns="0" tIns="0" rIns="0" bIns="0" rtlCol="0" anchor="t"/>
          <a:lstStyle/>
          <a:p>
            <a:pPr indent="0" marL="0">
              <a:buNone/>
            </a:pPr>
            <a:r>
              <a:rPr lang="en-US" sz="1200" i="1" dirty="0">
                <a:solidFill>
                  <a:schemeClr val="accent6"/>
                </a:solidFill>
              </a:rPr>
              <a:t>Baseline "always ham": 87.6% accuracy, catches no spam, so accuracy alone misleads</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Match the event model to the data</a:t>
            </a:r>
            <a:endParaRPr lang="en-US" sz="3400" dirty="0"/>
          </a:p>
        </p:txBody>
      </p:sp>
      <p:graphicFrame>
        <p:nvGraphicFramePr>
          <p:cNvPr id="3" name="Errors chart" descr=""/>
          <p:cNvGraphicFramePr/>
          <p:nvPr/>
        </p:nvGraphicFramePr>
        <p:xfrm>
          <a:off x="457200" y="1325880"/>
          <a:ext cx="6766560" cy="4754880"/>
        </p:xfrm>
        <a:graphic xmlns:a="http://schemas.openxmlformats.org/drawingml/2006/main">
          <a:graphicData uri="http://schemas.openxmlformats.org/drawingml/2006/chart">
            <c:chart xmlns:c="http://schemas.openxmlformats.org/drawingml/2006/chart" r:id="rId1"/>
          </a:graphicData>
        </a:graphic>
      </p:graphicFrame>
      <p:sp>
        <p:nvSpPr>
          <p:cNvPr id="4" name="Finding 1 key"/>
          <p:cNvSpPr/>
          <p:nvPr/>
        </p:nvSpPr>
        <p:spPr>
          <a:xfrm>
            <a:off x="7635240" y="1554480"/>
            <a:ext cx="201168" cy="201168"/>
          </a:xfrm>
          <a:prstGeom prst="ellipse">
            <a:avLst/>
          </a:prstGeom>
          <a:solidFill>
            <a:schemeClr val="accent3"/>
          </a:solidFill>
          <a:ln/>
        </p:spPr>
      </p:sp>
      <p:sp>
        <p:nvSpPr>
          <p:cNvPr id="5" name="Text 2"/>
          <p:cNvSpPr txBox="1"/>
          <p:nvPr/>
        </p:nvSpPr>
        <p:spPr>
          <a:xfrm>
            <a:off x="8001000" y="1463040"/>
            <a:ext cx="3611880" cy="365760"/>
          </a:xfrm>
          <a:prstGeom prst="rect">
            <a:avLst/>
          </a:prstGeom>
          <a:noFill/>
          <a:ln/>
        </p:spPr>
        <p:txBody>
          <a:bodyPr wrap="square" lIns="0" tIns="0" rIns="0" bIns="0" rtlCol="0" anchor="t"/>
          <a:lstStyle/>
          <a:p>
            <a:pPr indent="0" marL="0">
              <a:buNone/>
            </a:pPr>
            <a:r>
              <a:rPr lang="en-US" sz="1700" b="1" dirty="0">
                <a:solidFill>
                  <a:schemeClr val="tx1"/>
                </a:solidFill>
              </a:rPr>
              <a:t>Gaussian on word counts misses spam</a:t>
            </a:r>
            <a:endParaRPr lang="en-US" sz="1700" dirty="0"/>
          </a:p>
        </p:txBody>
      </p:sp>
      <p:sp>
        <p:nvSpPr>
          <p:cNvPr id="6" name="Text 3"/>
          <p:cNvSpPr txBox="1"/>
          <p:nvPr/>
        </p:nvSpPr>
        <p:spPr>
          <a:xfrm>
            <a:off x="8001000" y="1874520"/>
            <a:ext cx="3611880" cy="1005840"/>
          </a:xfrm>
          <a:prstGeom prst="rect">
            <a:avLst/>
          </a:prstGeom>
          <a:noFill/>
          <a:ln/>
        </p:spPr>
        <p:txBody>
          <a:bodyPr wrap="square" lIns="0" tIns="0" rIns="0" bIns="0" rtlCol="0" anchor="t"/>
          <a:lstStyle/>
          <a:p>
            <a:pPr indent="0" marL="0">
              <a:buNone/>
            </a:pPr>
            <a:r>
              <a:rPr lang="en-US" sz="1400" dirty="0">
                <a:solidFill>
                  <a:schemeClr val="accent6"/>
                </a:solidFill>
              </a:rPr>
              <a:t>41 of 128 missed: a bell curve cannot model counts that are almost always 0.</a:t>
            </a:r>
            <a:endParaRPr lang="en-US" sz="1400" dirty="0"/>
          </a:p>
        </p:txBody>
      </p:sp>
      <p:sp>
        <p:nvSpPr>
          <p:cNvPr id="7" name="Finding 2 key"/>
          <p:cNvSpPr/>
          <p:nvPr/>
        </p:nvSpPr>
        <p:spPr>
          <a:xfrm>
            <a:off x="7635240" y="3108960"/>
            <a:ext cx="201168" cy="201168"/>
          </a:xfrm>
          <a:prstGeom prst="ellipse">
            <a:avLst/>
          </a:prstGeom>
          <a:solidFill>
            <a:schemeClr val="accent3"/>
          </a:solidFill>
          <a:ln/>
        </p:spPr>
      </p:sp>
      <p:sp>
        <p:nvSpPr>
          <p:cNvPr id="8" name="Text 5"/>
          <p:cNvSpPr txBox="1"/>
          <p:nvPr/>
        </p:nvSpPr>
        <p:spPr>
          <a:xfrm>
            <a:off x="8001000" y="3017520"/>
            <a:ext cx="3611880" cy="365760"/>
          </a:xfrm>
          <a:prstGeom prst="rect">
            <a:avLst/>
          </a:prstGeom>
          <a:noFill/>
          <a:ln/>
        </p:spPr>
        <p:txBody>
          <a:bodyPr wrap="square" lIns="0" tIns="0" rIns="0" bIns="0" rtlCol="0" anchor="t"/>
          <a:lstStyle/>
          <a:p>
            <a:pPr indent="0" marL="0">
              <a:buNone/>
            </a:pPr>
            <a:r>
              <a:rPr lang="en-US" sz="1700" b="1" dirty="0">
                <a:solidFill>
                  <a:schemeClr val="tx1"/>
                </a:solidFill>
              </a:rPr>
              <a:t>Gaussian on statistics works</a:t>
            </a:r>
            <a:endParaRPr lang="en-US" sz="1700" dirty="0"/>
          </a:p>
        </p:txBody>
      </p:sp>
      <p:sp>
        <p:nvSpPr>
          <p:cNvPr id="9" name="Text 6"/>
          <p:cNvSpPr txBox="1"/>
          <p:nvPr/>
        </p:nvSpPr>
        <p:spPr>
          <a:xfrm>
            <a:off x="8001000" y="3429000"/>
            <a:ext cx="3611880" cy="1005840"/>
          </a:xfrm>
          <a:prstGeom prst="rect">
            <a:avLst/>
          </a:prstGeom>
          <a:noFill/>
          <a:ln/>
        </p:spPr>
        <p:txBody>
          <a:bodyPr wrap="square" lIns="0" tIns="0" rIns="0" bIns="0" rtlCol="0" anchor="t"/>
          <a:lstStyle/>
          <a:p>
            <a:pPr indent="0" marL="0">
              <a:buNone/>
            </a:pPr>
            <a:r>
              <a:rPr lang="en-US" sz="1400" dirty="0">
                <a:solidFill>
                  <a:schemeClr val="accent6"/>
                </a:solidFill>
              </a:rPr>
              <a:t>F1 0.82, and the best of all models from only 66 training messages (F1 0.84 vs 0.67 for logistic regression).</a:t>
            </a:r>
            <a:endParaRPr lang="en-US" sz="1400" dirty="0"/>
          </a:p>
        </p:txBody>
      </p:sp>
      <p:sp>
        <p:nvSpPr>
          <p:cNvPr id="10" name="Finding 3 key"/>
          <p:cNvSpPr/>
          <p:nvPr/>
        </p:nvSpPr>
        <p:spPr>
          <a:xfrm>
            <a:off x="7635240" y="4663440"/>
            <a:ext cx="201168" cy="201168"/>
          </a:xfrm>
          <a:prstGeom prst="ellipse">
            <a:avLst/>
          </a:prstGeom>
          <a:solidFill>
            <a:schemeClr val="accent5"/>
          </a:solidFill>
          <a:ln/>
        </p:spPr>
      </p:sp>
      <p:sp>
        <p:nvSpPr>
          <p:cNvPr id="11" name="Text 8"/>
          <p:cNvSpPr txBox="1"/>
          <p:nvPr/>
        </p:nvSpPr>
        <p:spPr>
          <a:xfrm>
            <a:off x="8001000" y="4572000"/>
            <a:ext cx="3611880" cy="365760"/>
          </a:xfrm>
          <a:prstGeom prst="rect">
            <a:avLst/>
          </a:prstGeom>
          <a:noFill/>
          <a:ln/>
        </p:spPr>
        <p:txBody>
          <a:bodyPr wrap="square" lIns="0" tIns="0" rIns="0" bIns="0" rtlCol="0" anchor="t"/>
          <a:lstStyle/>
          <a:p>
            <a:pPr indent="0" marL="0">
              <a:buNone/>
            </a:pPr>
            <a:r>
              <a:rPr lang="en-US" sz="1700" b="1" dirty="0">
                <a:solidFill>
                  <a:schemeClr val="tx1"/>
                </a:solidFill>
              </a:rPr>
              <a:t>Combining both adds false alarms</a:t>
            </a:r>
            <a:endParaRPr lang="en-US" sz="1700" dirty="0"/>
          </a:p>
        </p:txBody>
      </p:sp>
      <p:sp>
        <p:nvSpPr>
          <p:cNvPr id="12" name="Text 9"/>
          <p:cNvSpPr txBox="1"/>
          <p:nvPr/>
        </p:nvSpPr>
        <p:spPr>
          <a:xfrm>
            <a:off x="8001000" y="4983480"/>
            <a:ext cx="3611880" cy="1005840"/>
          </a:xfrm>
          <a:prstGeom prst="rect">
            <a:avLst/>
          </a:prstGeom>
          <a:noFill/>
          <a:ln/>
        </p:spPr>
        <p:txBody>
          <a:bodyPr wrap="square" lIns="0" tIns="0" rIns="0" bIns="0" rtlCol="0" anchor="t"/>
          <a:lstStyle/>
          <a:p>
            <a:pPr indent="0" marL="0">
              <a:buNone/>
            </a:pPr>
            <a:r>
              <a:rPr lang="en-US" sz="1400" dirty="0">
                <a:solidFill>
                  <a:schemeClr val="accent6"/>
                </a:solidFill>
              </a:rPr>
              <a:t>8 vs 3: characters and words correlate at 0.97, so length is counted twice.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1"/>
                </a:solidFill>
              </a:rPr>
              <a:t>Phone numbers and prizes give spam away</a:t>
            </a:r>
            <a:endParaRPr lang="en-US" sz="3400" dirty="0"/>
          </a:p>
        </p:txBody>
      </p:sp>
      <p:graphicFrame>
        <p:nvGraphicFramePr>
          <p:cNvPr id="3" name="Times more frequent in spam than in ham chart" descr=""/>
          <p:cNvGraphicFramePr/>
          <p:nvPr/>
        </p:nvGraphicFramePr>
        <p:xfrm>
          <a:off x="457200" y="1280160"/>
          <a:ext cx="5486400" cy="37033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Times more frequent in ham than in spam chart" descr=""/>
          <p:cNvGraphicFramePr/>
          <p:nvPr/>
        </p:nvGraphicFramePr>
        <p:xfrm>
          <a:off x="6217920" y="1280160"/>
          <a:ext cx="5486400" cy="370332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548640" y="5074920"/>
            <a:ext cx="11064240" cy="320040"/>
          </a:xfrm>
          <a:prstGeom prst="rect">
            <a:avLst/>
          </a:prstGeom>
          <a:noFill/>
          <a:ln/>
        </p:spPr>
        <p:txBody>
          <a:bodyPr wrap="square" lIns="0" tIns="0" rIns="0" bIns="0" rtlCol="0" anchor="t"/>
          <a:lstStyle/>
          <a:p>
            <a:pPr indent="0" marL="0">
              <a:buNone/>
            </a:pPr>
            <a:r>
              <a:rPr lang="en-US" sz="1400" b="1" dirty="0">
                <a:solidFill>
                  <a:schemeClr val="accent6"/>
                </a:solidFill>
              </a:rPr>
              <a:t>What slipped through: 16 spam messages, 12 with no phone number, money amount or link</a:t>
            </a:r>
            <a:endParaRPr lang="en-US" sz="1400" dirty="0"/>
          </a:p>
        </p:txBody>
      </p:sp>
      <p:sp>
        <p:nvSpPr>
          <p:cNvPr id="6" name="Missed spam 1 bubble"/>
          <p:cNvSpPr/>
          <p:nvPr/>
        </p:nvSpPr>
        <p:spPr>
          <a:xfrm>
            <a:off x="548640" y="5486400"/>
            <a:ext cx="4754880" cy="685800"/>
          </a:xfrm>
          <a:prstGeom prst="wedgeRoundRectCallout">
            <a:avLst/>
          </a:prstGeom>
          <a:solidFill>
            <a:srgbClr val="FCE3D8"/>
          </a:solidFill>
          <a:ln/>
        </p:spPr>
      </p:sp>
      <p:sp>
        <p:nvSpPr>
          <p:cNvPr id="7" name="Missed spam 1 text"/>
          <p:cNvSpPr txBox="1"/>
          <p:nvPr/>
        </p:nvSpPr>
        <p:spPr>
          <a:xfrm>
            <a:off x="731520" y="5596128"/>
            <a:ext cx="4389120" cy="466344"/>
          </a:xfrm>
          <a:prstGeom prst="rect">
            <a:avLst/>
          </a:prstGeom>
          <a:noFill/>
          <a:ln/>
        </p:spPr>
        <p:txBody>
          <a:bodyPr wrap="square" lIns="0" tIns="0" rIns="0" bIns="0" rtlCol="0" anchor="ctr"/>
          <a:lstStyle/>
          <a:p>
            <a:pPr indent="0" marL="0">
              <a:buNone/>
            </a:pPr>
            <a:r>
              <a:rPr lang="en-US" sz="1300" dirty="0">
                <a:solidFill>
                  <a:schemeClr val="tx1"/>
                </a:solidFill>
              </a:rPr>
              <a:t>Latest News! Police station toilet stolen, cops have nothing to go on!</a:t>
            </a:r>
            <a:endParaRPr lang="en-US" sz="1300" dirty="0"/>
          </a:p>
        </p:txBody>
      </p:sp>
      <p:sp>
        <p:nvSpPr>
          <p:cNvPr id="8" name="Missed spam 2 bubble"/>
          <p:cNvSpPr/>
          <p:nvPr/>
        </p:nvSpPr>
        <p:spPr>
          <a:xfrm>
            <a:off x="5577840" y="5486400"/>
            <a:ext cx="6035040" cy="685800"/>
          </a:xfrm>
          <a:prstGeom prst="wedgeRoundRectCallout">
            <a:avLst/>
          </a:prstGeom>
          <a:solidFill>
            <a:srgbClr val="FCE3D8"/>
          </a:solidFill>
          <a:ln/>
        </p:spPr>
      </p:sp>
      <p:sp>
        <p:nvSpPr>
          <p:cNvPr id="9" name="Missed spam 2 text"/>
          <p:cNvSpPr txBox="1"/>
          <p:nvPr/>
        </p:nvSpPr>
        <p:spPr>
          <a:xfrm>
            <a:off x="5760720" y="5596128"/>
            <a:ext cx="5669280" cy="466344"/>
          </a:xfrm>
          <a:prstGeom prst="rect">
            <a:avLst/>
          </a:prstGeom>
          <a:noFill/>
          <a:ln/>
        </p:spPr>
        <p:txBody>
          <a:bodyPr wrap="square" lIns="0" tIns="0" rIns="0" bIns="0" rtlCol="0" anchor="ctr"/>
          <a:lstStyle/>
          <a:p>
            <a:pPr indent="0" marL="0">
              <a:buNone/>
            </a:pPr>
            <a:r>
              <a:rPr lang="en-US" sz="1300" dirty="0">
                <a:solidFill>
                  <a:schemeClr val="tx1"/>
                </a:solidFill>
              </a:rPr>
              <a:t>Do you realize that in about 40 years, we'll have thousands of old ladies running around with tattoos?</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bg1"/>
                </a:solidFill>
              </a:rPr>
              <a:t>What we learned</a:t>
            </a:r>
            <a:endParaRPr lang="en-US" sz="3400" dirty="0"/>
          </a:p>
        </p:txBody>
      </p:sp>
      <p:sp>
        <p:nvSpPr>
          <p:cNvPr id="3" name="RQ1 card"/>
          <p:cNvSpPr/>
          <p:nvPr/>
        </p:nvSpPr>
        <p:spPr>
          <a:xfrm>
            <a:off x="548640" y="1371600"/>
            <a:ext cx="3520440" cy="2331720"/>
          </a:xfrm>
          <a:prstGeom prst="roundRect">
            <a:avLst>
              <a:gd name="adj" fmla="val 4706"/>
            </a:avLst>
          </a:prstGeom>
          <a:solidFill>
            <a:srgbClr val="1E3350"/>
          </a:solidFill>
          <a:ln/>
        </p:spPr>
      </p:sp>
      <p:sp>
        <p:nvSpPr>
          <p:cNvPr id="4" name="Text 2"/>
          <p:cNvSpPr txBox="1"/>
          <p:nvPr/>
        </p:nvSpPr>
        <p:spPr>
          <a:xfrm>
            <a:off x="822960" y="1600200"/>
            <a:ext cx="292608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RQ1</a:t>
            </a:r>
            <a:endParaRPr lang="en-US" sz="1300" dirty="0"/>
          </a:p>
        </p:txBody>
      </p:sp>
      <p:sp>
        <p:nvSpPr>
          <p:cNvPr id="5" name="Text 3"/>
          <p:cNvSpPr txBox="1"/>
          <p:nvPr/>
        </p:nvSpPr>
        <p:spPr>
          <a:xfrm>
            <a:off x="822960" y="1965960"/>
            <a:ext cx="3017520" cy="457200"/>
          </a:xfrm>
          <a:prstGeom prst="rect">
            <a:avLst/>
          </a:prstGeom>
          <a:noFill/>
          <a:ln/>
        </p:spPr>
        <p:txBody>
          <a:bodyPr wrap="square" lIns="0" tIns="0" rIns="0" bIns="0" rtlCol="0" anchor="t"/>
          <a:lstStyle/>
          <a:p>
            <a:pPr indent="0" marL="0">
              <a:buNone/>
            </a:pPr>
            <a:r>
              <a:rPr lang="en-US" sz="2000" b="1" dirty="0">
                <a:solidFill>
                  <a:schemeClr val="bg1"/>
                </a:solidFill>
              </a:rPr>
              <a:t>Naive Bayes works</a:t>
            </a:r>
            <a:endParaRPr lang="en-US" sz="2000" dirty="0"/>
          </a:p>
        </p:txBody>
      </p:sp>
      <p:sp>
        <p:nvSpPr>
          <p:cNvPr id="6" name="Text 4"/>
          <p:cNvSpPr txBox="1"/>
          <p:nvPr/>
        </p:nvSpPr>
        <p:spPr>
          <a:xfrm>
            <a:off x="822960" y="2514600"/>
            <a:ext cx="3017520" cy="1371600"/>
          </a:xfrm>
          <a:prstGeom prst="rect">
            <a:avLst/>
          </a:prstGeom>
          <a:noFill/>
          <a:ln/>
        </p:spPr>
        <p:txBody>
          <a:bodyPr wrap="square" lIns="0" tIns="0" rIns="0" bIns="0" rtlCol="0" anchor="t"/>
          <a:lstStyle/>
          <a:p>
            <a:pPr indent="0" marL="0">
              <a:buNone/>
            </a:pPr>
            <a:r>
              <a:rPr lang="en-US" sz="1400" dirty="0">
                <a:solidFill>
                  <a:schemeClr val="bg2"/>
                </a:solidFill>
              </a:rPr>
              <a:t>98.4% accuracy, zero false alarms and F1 0.93 on unseen messages, from a model you can read word by word.</a:t>
            </a:r>
            <a:endParaRPr lang="en-US" sz="1400" dirty="0"/>
          </a:p>
        </p:txBody>
      </p:sp>
      <p:sp>
        <p:nvSpPr>
          <p:cNvPr id="7" name="RQ2 card"/>
          <p:cNvSpPr/>
          <p:nvPr/>
        </p:nvSpPr>
        <p:spPr>
          <a:xfrm>
            <a:off x="4297680" y="1371600"/>
            <a:ext cx="3520440" cy="2331720"/>
          </a:xfrm>
          <a:prstGeom prst="roundRect">
            <a:avLst>
              <a:gd name="adj" fmla="val 4706"/>
            </a:avLst>
          </a:prstGeom>
          <a:solidFill>
            <a:srgbClr val="1E3350"/>
          </a:solidFill>
          <a:ln/>
        </p:spPr>
      </p:sp>
      <p:sp>
        <p:nvSpPr>
          <p:cNvPr id="8" name="Text 6"/>
          <p:cNvSpPr txBox="1"/>
          <p:nvPr/>
        </p:nvSpPr>
        <p:spPr>
          <a:xfrm>
            <a:off x="4572000" y="1600200"/>
            <a:ext cx="292608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RQ2</a:t>
            </a:r>
            <a:endParaRPr lang="en-US" sz="1300" dirty="0"/>
          </a:p>
        </p:txBody>
      </p:sp>
      <p:sp>
        <p:nvSpPr>
          <p:cNvPr id="9" name="Text 7"/>
          <p:cNvSpPr txBox="1"/>
          <p:nvPr/>
        </p:nvSpPr>
        <p:spPr>
          <a:xfrm>
            <a:off x="4572000" y="1965960"/>
            <a:ext cx="3017520" cy="457200"/>
          </a:xfrm>
          <a:prstGeom prst="rect">
            <a:avLst/>
          </a:prstGeom>
          <a:noFill/>
          <a:ln/>
        </p:spPr>
        <p:txBody>
          <a:bodyPr wrap="square" lIns="0" tIns="0" rIns="0" bIns="0" rtlCol="0" anchor="t"/>
          <a:lstStyle/>
          <a:p>
            <a:pPr indent="0" marL="0">
              <a:buNone/>
            </a:pPr>
            <a:r>
              <a:rPr lang="en-US" sz="2000" b="1" dirty="0">
                <a:solidFill>
                  <a:schemeClr val="bg1"/>
                </a:solidFill>
              </a:rPr>
              <a:t>Fit the model to the feature</a:t>
            </a:r>
            <a:endParaRPr lang="en-US" sz="2000" dirty="0"/>
          </a:p>
        </p:txBody>
      </p:sp>
      <p:sp>
        <p:nvSpPr>
          <p:cNvPr id="10" name="Text 8"/>
          <p:cNvSpPr txBox="1"/>
          <p:nvPr/>
        </p:nvSpPr>
        <p:spPr>
          <a:xfrm>
            <a:off x="4572000" y="2514600"/>
            <a:ext cx="3017520" cy="1371600"/>
          </a:xfrm>
          <a:prstGeom prst="rect">
            <a:avLst/>
          </a:prstGeom>
          <a:noFill/>
          <a:ln/>
        </p:spPr>
        <p:txBody>
          <a:bodyPr wrap="square" lIns="0" tIns="0" rIns="0" bIns="0" rtlCol="0" anchor="t"/>
          <a:lstStyle/>
          <a:p>
            <a:pPr indent="0" marL="0">
              <a:buNone/>
            </a:pPr>
            <a:r>
              <a:rPr lang="en-US" sz="1400" dirty="0">
                <a:solidFill>
                  <a:schemeClr val="bg2"/>
                </a:solidFill>
              </a:rPr>
              <a:t>Multinomial or Bernoulli for words, Gaussian for continuous statistics. Combine them only when the features are independent.</a:t>
            </a:r>
            <a:endParaRPr lang="en-US" sz="1400" dirty="0"/>
          </a:p>
        </p:txBody>
      </p:sp>
      <p:sp>
        <p:nvSpPr>
          <p:cNvPr id="11" name="RQ3 card"/>
          <p:cNvSpPr/>
          <p:nvPr/>
        </p:nvSpPr>
        <p:spPr>
          <a:xfrm>
            <a:off x="8046720" y="1371600"/>
            <a:ext cx="3520440" cy="2331720"/>
          </a:xfrm>
          <a:prstGeom prst="roundRect">
            <a:avLst>
              <a:gd name="adj" fmla="val 4706"/>
            </a:avLst>
          </a:prstGeom>
          <a:solidFill>
            <a:srgbClr val="1E3350"/>
          </a:solidFill>
          <a:ln/>
        </p:spPr>
      </p:sp>
      <p:sp>
        <p:nvSpPr>
          <p:cNvPr id="12" name="Text 10"/>
          <p:cNvSpPr txBox="1"/>
          <p:nvPr/>
        </p:nvSpPr>
        <p:spPr>
          <a:xfrm>
            <a:off x="8321040" y="1600200"/>
            <a:ext cx="292608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RQ3</a:t>
            </a:r>
            <a:endParaRPr lang="en-US" sz="1300" dirty="0"/>
          </a:p>
        </p:txBody>
      </p:sp>
      <p:sp>
        <p:nvSpPr>
          <p:cNvPr id="13" name="Text 11"/>
          <p:cNvSpPr txBox="1"/>
          <p:nvPr/>
        </p:nvSpPr>
        <p:spPr>
          <a:xfrm>
            <a:off x="8321040" y="1965960"/>
            <a:ext cx="3017520" cy="457200"/>
          </a:xfrm>
          <a:prstGeom prst="rect">
            <a:avLst/>
          </a:prstGeom>
          <a:noFill/>
          <a:ln/>
        </p:spPr>
        <p:txBody>
          <a:bodyPr wrap="square" lIns="0" tIns="0" rIns="0" bIns="0" rtlCol="0" anchor="t"/>
          <a:lstStyle/>
          <a:p>
            <a:pPr indent="0" marL="0">
              <a:buNone/>
            </a:pPr>
            <a:r>
              <a:rPr lang="en-US" sz="2000" b="1" dirty="0">
                <a:solidFill>
                  <a:schemeClr val="bg1"/>
                </a:solidFill>
              </a:rPr>
              <a:t>Contact and reward words</a:t>
            </a:r>
            <a:endParaRPr lang="en-US" sz="2000" dirty="0"/>
          </a:p>
        </p:txBody>
      </p:sp>
      <p:sp>
        <p:nvSpPr>
          <p:cNvPr id="14" name="Text 12"/>
          <p:cNvSpPr txBox="1"/>
          <p:nvPr/>
        </p:nvSpPr>
        <p:spPr>
          <a:xfrm>
            <a:off x="8321040" y="2514600"/>
            <a:ext cx="3017520" cy="1371600"/>
          </a:xfrm>
          <a:prstGeom prst="rect">
            <a:avLst/>
          </a:prstGeom>
          <a:noFill/>
          <a:ln/>
        </p:spPr>
        <p:txBody>
          <a:bodyPr wrap="square" lIns="0" tIns="0" rIns="0" bIns="0" rtlCol="0" anchor="t"/>
          <a:lstStyle/>
          <a:p>
            <a:pPr indent="0" marL="0">
              <a:buNone/>
            </a:pPr>
            <a:r>
              <a:rPr lang="en-US" sz="1400" dirty="0">
                <a:solidFill>
                  <a:schemeClr val="bg2"/>
                </a:solidFill>
              </a:rPr>
              <a:t>Phone numbers, "claim" and "prize" flag spam. Spam written like chat is what still gets through.</a:t>
            </a:r>
            <a:endParaRPr lang="en-US" sz="1400" dirty="0"/>
          </a:p>
        </p:txBody>
      </p:sp>
      <p:sp>
        <p:nvSpPr>
          <p:cNvPr id="15" name="Text 13"/>
          <p:cNvSpPr txBox="1"/>
          <p:nvPr/>
        </p:nvSpPr>
        <p:spPr>
          <a:xfrm>
            <a:off x="548640" y="4023360"/>
            <a:ext cx="5394960" cy="365760"/>
          </a:xfrm>
          <a:prstGeom prst="rect">
            <a:avLst/>
          </a:prstGeom>
          <a:noFill/>
          <a:ln/>
        </p:spPr>
        <p:txBody>
          <a:bodyPr wrap="square" lIns="0" tIns="0" rIns="0" bIns="0" rtlCol="0" anchor="t"/>
          <a:lstStyle/>
          <a:p>
            <a:pPr indent="0" marL="0">
              <a:buNone/>
            </a:pPr>
            <a:r>
              <a:rPr lang="en-US" sz="1700" b="1" dirty="0">
                <a:solidFill>
                  <a:schemeClr val="bg1"/>
                </a:solidFill>
              </a:rPr>
              <a:t>Limitations</a:t>
            </a:r>
            <a:endParaRPr lang="en-US" sz="1700" dirty="0"/>
          </a:p>
        </p:txBody>
      </p:sp>
      <p:sp>
        <p:nvSpPr>
          <p:cNvPr id="16" name="Text 14"/>
          <p:cNvSpPr txBox="1"/>
          <p:nvPr/>
        </p:nvSpPr>
        <p:spPr>
          <a:xfrm>
            <a:off x="548640" y="4434840"/>
            <a:ext cx="5394960" cy="16459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2"/>
                </a:solidFill>
              </a:rPr>
              <a:t>One ham source hid its numbers behind &lt;#&gt;, so numbers look more spam-like here than on a real phone</a:t>
            </a:r>
            <a:endParaRPr lang="en-US" sz="1400" dirty="0"/>
          </a:p>
          <a:p>
            <a:pPr marL="342900" indent="-342900">
              <a:spcAft>
                <a:spcPts val="600"/>
              </a:spcAft>
              <a:buSzPct val="100000"/>
              <a:buChar char="•"/>
            </a:pPr>
            <a:r>
              <a:rPr lang="en-US" sz="1400" dirty="0">
                <a:solidFill>
                  <a:schemeClr val="bg2"/>
                </a:solidFill>
              </a:rPr>
              <a:t>Messages collected before 2011 (UK spam, Singapore ham)</a:t>
            </a:r>
            <a:endParaRPr lang="en-US" sz="1400" dirty="0"/>
          </a:p>
          <a:p>
            <a:pPr marL="342900" indent="-342900">
              <a:spcAft>
                <a:spcPts val="600"/>
              </a:spcAft>
              <a:buSzPct val="100000"/>
              <a:buChar char="•"/>
            </a:pPr>
            <a:r>
              <a:rPr lang="en-US" sz="1400" dirty="0">
                <a:solidFill>
                  <a:schemeClr val="bg2"/>
                </a:solidFill>
              </a:rPr>
              <a:t>Probabilities are over-confident; scores rank well but are not calibrated</a:t>
            </a:r>
            <a:endParaRPr lang="en-US" sz="1400" dirty="0"/>
          </a:p>
        </p:txBody>
      </p:sp>
      <p:sp>
        <p:nvSpPr>
          <p:cNvPr id="17" name="Text 15"/>
          <p:cNvSpPr txBox="1"/>
          <p:nvPr/>
        </p:nvSpPr>
        <p:spPr>
          <a:xfrm>
            <a:off x="6217920" y="4023360"/>
            <a:ext cx="5394960" cy="365760"/>
          </a:xfrm>
          <a:prstGeom prst="rect">
            <a:avLst/>
          </a:prstGeom>
          <a:noFill/>
          <a:ln/>
        </p:spPr>
        <p:txBody>
          <a:bodyPr wrap="square" lIns="0" tIns="0" rIns="0" bIns="0" rtlCol="0" anchor="t"/>
          <a:lstStyle/>
          <a:p>
            <a:pPr indent="0" marL="0">
              <a:buNone/>
            </a:pPr>
            <a:r>
              <a:rPr lang="en-US" sz="1700" b="1" dirty="0">
                <a:solidFill>
                  <a:schemeClr val="bg1"/>
                </a:solidFill>
              </a:rPr>
              <a:t>Next steps</a:t>
            </a:r>
            <a:endParaRPr lang="en-US" sz="1700" dirty="0"/>
          </a:p>
        </p:txBody>
      </p:sp>
      <p:sp>
        <p:nvSpPr>
          <p:cNvPr id="18" name="Text 16"/>
          <p:cNvSpPr txBox="1"/>
          <p:nvPr/>
        </p:nvSpPr>
        <p:spPr>
          <a:xfrm>
            <a:off x="6217920" y="4434840"/>
            <a:ext cx="5394960" cy="16459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2"/>
                </a:solidFill>
              </a:rPr>
              <a:t>Retrain on recent spam such as parcel scams and short links</a:t>
            </a:r>
            <a:endParaRPr lang="en-US" sz="1400" dirty="0"/>
          </a:p>
          <a:p>
            <a:pPr marL="342900" indent="-342900">
              <a:spcAft>
                <a:spcPts val="600"/>
              </a:spcAft>
              <a:buSzPct val="100000"/>
              <a:buChar char="•"/>
            </a:pPr>
            <a:r>
              <a:rPr lang="en-US" sz="1400" dirty="0">
                <a:solidFill>
                  <a:schemeClr val="bg2"/>
                </a:solidFill>
              </a:rPr>
              <a:t>Character n-grams to catch tricks like "fr33"</a:t>
            </a:r>
            <a:endParaRPr lang="en-US" sz="1400" dirty="0"/>
          </a:p>
          <a:p>
            <a:pPr marL="342900" indent="-342900">
              <a:spcAft>
                <a:spcPts val="600"/>
              </a:spcAft>
              <a:buSzPct val="100000"/>
              <a:buChar char="•"/>
            </a:pPr>
            <a:r>
              <a:rPr lang="en-US" sz="1400" dirty="0">
                <a:solidFill>
                  <a:schemeClr val="bg2"/>
                </a:solidFill>
              </a:rPr>
              <a:t>Calibrate probabilities before choosing a threshold</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SMS Spam Naive Bayes">
  <a:themeElements>
    <a:clrScheme name="SMS Spam Naive Bayes">
      <a:dk1>
        <a:srgbClr val="14171C"/>
      </a:dk1>
      <a:lt1>
        <a:srgbClr val="FFFFFF"/>
      </a:lt1>
      <a:dk2>
        <a:srgbClr val="13233A"/>
      </a:dk2>
      <a:lt2>
        <a:srgbClr val="F2F4F7"/>
      </a:lt2>
      <a:accent1>
        <a:srgbClr val="2A78D6"/>
      </a:accent1>
      <a:accent2>
        <a:srgbClr val="EB6834"/>
      </a:accent2>
      <a:accent3>
        <a:srgbClr val="1BAF7A"/>
      </a:accent3>
      <a:accent4>
        <a:srgbClr val="EDA100"/>
      </a:accent4>
      <a:accent5>
        <a:srgbClr val="C3C2B7"/>
      </a:accent5>
      <a:accent6>
        <a:srgbClr val="52514E"/>
      </a:accent6>
      <a:hlink>
        <a:srgbClr val="2A78D6"/>
      </a:hlink>
      <a:folHlink>
        <a:srgbClr val="6250D6"/>
      </a:folHlink>
    </a:clrScheme>
    <a:fontScheme name="SMS Spam Naive Baye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Catching SMS Spam with Naive Bayes</dc:title>
  <dc:subject>CS 5830 Project 5</dc:subject>
  <dc:creator>Abinash Pant</dc:creator>
  <cp:lastModifiedBy>Abinash Pant</cp:lastModifiedBy>
  <cp:revision>1</cp:revision>
  <dcterms:created xsi:type="dcterms:W3CDTF">2026-10-17T01:40:00Z</dcterms:created>
  <dcterms:modified xsi:type="dcterms:W3CDTF">2026-10-17T01:40:00Z</dcterms:modified>
</cp:coreProperties>
</file>