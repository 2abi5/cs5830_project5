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0" r:id="rId3"/>
    <p:sldId id="261" r:id="rId4"/>
    <p:sldId id="262" r:id="rId5"/>
    <p:sldId id="263" r:id="rId6"/>
    <p:sldId id="264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B1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>
        <p:scale>
          <a:sx n="66" d="100"/>
          <a:sy n="66" d="100"/>
        </p:scale>
        <p:origin x="1003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1" i="0" u="none" strike="noStrike">
                <a:solidFill>
                  <a:srgbClr val="14171C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14171C"/>
                </a:solidFill>
                <a:latin typeface="+mn-lt"/>
              </a:rPr>
              <a:t>Share of each class, by message length in characters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Ham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0-19</c:v>
                </c:pt>
                <c:pt idx="1">
                  <c:v>20-39</c:v>
                </c:pt>
                <c:pt idx="2">
                  <c:v>40-59</c:v>
                </c:pt>
                <c:pt idx="3">
                  <c:v>60-79</c:v>
                </c:pt>
                <c:pt idx="4">
                  <c:v>80-99</c:v>
                </c:pt>
                <c:pt idx="5">
                  <c:v>100-119</c:v>
                </c:pt>
                <c:pt idx="6">
                  <c:v>120-139</c:v>
                </c:pt>
                <c:pt idx="7">
                  <c:v>140-159</c:v>
                </c:pt>
                <c:pt idx="8">
                  <c:v>160-179</c:v>
                </c:pt>
                <c:pt idx="9">
                  <c:v>180-199</c:v>
                </c:pt>
                <c:pt idx="10">
                  <c:v>200+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2.8500276701715552E-2</c:v>
                </c:pt>
                <c:pt idx="1">
                  <c:v>0.32097399003873822</c:v>
                </c:pt>
                <c:pt idx="2">
                  <c:v>0.21555063641394576</c:v>
                </c:pt>
                <c:pt idx="3">
                  <c:v>0.13198671831765357</c:v>
                </c:pt>
                <c:pt idx="4">
                  <c:v>8.5777531820697292E-2</c:v>
                </c:pt>
                <c:pt idx="5">
                  <c:v>5.7553956834532377E-2</c:v>
                </c:pt>
                <c:pt idx="6">
                  <c:v>5.2850027670171558E-2</c:v>
                </c:pt>
                <c:pt idx="7">
                  <c:v>6.30879911455451E-2</c:v>
                </c:pt>
                <c:pt idx="8">
                  <c:v>1.4111787493082457E-2</c:v>
                </c:pt>
                <c:pt idx="9">
                  <c:v>7.4709463198671831E-3</c:v>
                </c:pt>
                <c:pt idx="10">
                  <c:v>2.2136137244050912E-2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4A-431A-B916-3719673B35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Spam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0-19</c:v>
                </c:pt>
                <c:pt idx="1">
                  <c:v>20-39</c:v>
                </c:pt>
                <c:pt idx="2">
                  <c:v>40-59</c:v>
                </c:pt>
                <c:pt idx="3">
                  <c:v>60-79</c:v>
                </c:pt>
                <c:pt idx="4">
                  <c:v>80-99</c:v>
                </c:pt>
                <c:pt idx="5">
                  <c:v>100-119</c:v>
                </c:pt>
                <c:pt idx="6">
                  <c:v>120-139</c:v>
                </c:pt>
                <c:pt idx="7">
                  <c:v>140-159</c:v>
                </c:pt>
                <c:pt idx="8">
                  <c:v>160-179</c:v>
                </c:pt>
                <c:pt idx="9">
                  <c:v>180-199</c:v>
                </c:pt>
                <c:pt idx="10">
                  <c:v>200+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1.9493177387914229E-3</c:v>
                </c:pt>
                <c:pt idx="1">
                  <c:v>1.1695906432748537E-2</c:v>
                </c:pt>
                <c:pt idx="2">
                  <c:v>2.5341130604288498E-2</c:v>
                </c:pt>
                <c:pt idx="3">
                  <c:v>3.8986354775828458E-2</c:v>
                </c:pt>
                <c:pt idx="4">
                  <c:v>2.7290448343079921E-2</c:v>
                </c:pt>
                <c:pt idx="5">
                  <c:v>8.1871345029239762E-2</c:v>
                </c:pt>
                <c:pt idx="6">
                  <c:v>0.16764132553606237</c:v>
                </c:pt>
                <c:pt idx="7">
                  <c:v>0.51461988304093564</c:v>
                </c:pt>
                <c:pt idx="8">
                  <c:v>0.12085769980506822</c:v>
                </c:pt>
                <c:pt idx="9">
                  <c:v>7.7972709551656916E-3</c:v>
                </c:pt>
                <c:pt idx="10">
                  <c:v>1.9493177387914229E-3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4A-431A-B916-3719673B35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1" i="0" u="none" strike="noStrike">
                <a:solidFill>
                  <a:srgbClr val="14171C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14171C"/>
                </a:solidFill>
                <a:latin typeface="+mn-lt"/>
              </a:rPr>
              <a:t>F1 on 1,032 unseen test messages (blue = final filter)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C3C2B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CAB-48EC-9D00-FF2E33D02E4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CAB-48EC-9D00-FF2E33D02E4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3CAB-48EC-9D00-FF2E33D02E4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CAB-48EC-9D00-FF2E33D02E4A}"/>
              </c:ext>
            </c:extLst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CAB-48EC-9D00-FF2E33D02E4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3CAB-48EC-9D00-FF2E33D02E4A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Gaussian NB · word counts</c:v>
                </c:pt>
                <c:pt idx="1">
                  <c:v>Gaussian NB · 8 message statistics</c:v>
                </c:pt>
                <c:pt idx="2">
                  <c:v>Logistic regression · word counts</c:v>
                </c:pt>
                <c:pt idx="3">
                  <c:v>Hybrid NB · words + statistics</c:v>
                </c:pt>
                <c:pt idx="4">
                  <c:v>Bernoulli NB · word presence</c:v>
                </c:pt>
                <c:pt idx="5">
                  <c:v>Multinomial NB · word counts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0.79452054794520544</c:v>
                </c:pt>
                <c:pt idx="1">
                  <c:v>0.81818181818181823</c:v>
                </c:pt>
                <c:pt idx="2">
                  <c:v>0.91286307053941906</c:v>
                </c:pt>
                <c:pt idx="3">
                  <c:v>0.91633466135458164</c:v>
                </c:pt>
                <c:pt idx="4">
                  <c:v>0.93333333333333335</c:v>
                </c:pt>
                <c:pt idx="5">
                  <c:v>0.93495934959349591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CAB-48EC-9D00-FF2E33D02E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1" i="0" u="none" strike="noStrike">
                <a:solidFill>
                  <a:srgbClr val="14171C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14171C"/>
                </a:solidFill>
                <a:latin typeface="+mn-lt"/>
              </a:rPr>
              <a:t>Errors on the test set (904 ham, 128 spam)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Ham flagged (false alarms)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Hybrid NB · words + statistics</c:v>
                </c:pt>
                <c:pt idx="1">
                  <c:v>Gaussian NB · 8 message statistics</c:v>
                </c:pt>
                <c:pt idx="2">
                  <c:v>Gaussian NB · word counts</c:v>
                </c:pt>
                <c:pt idx="3">
                  <c:v>Multinomial NB · word counts</c:v>
                </c:pt>
                <c:pt idx="4">
                  <c:v>Bernoulli NB · word presence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28</c:v>
                </c:pt>
                <c:pt idx="2">
                  <c:v>4</c:v>
                </c:pt>
                <c:pt idx="3">
                  <c:v>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C1-4282-A63E-5793B83986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Spam missed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Hybrid NB · words + statistics</c:v>
                </c:pt>
                <c:pt idx="1">
                  <c:v>Gaussian NB · 8 message statistics</c:v>
                </c:pt>
                <c:pt idx="2">
                  <c:v>Gaussian NB · word counts</c:v>
                </c:pt>
                <c:pt idx="3">
                  <c:v>Multinomial NB · word counts</c:v>
                </c:pt>
                <c:pt idx="4">
                  <c:v>Bernoulli NB · word presence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</c:v>
                </c:pt>
                <c:pt idx="1">
                  <c:v>20</c:v>
                </c:pt>
                <c:pt idx="2">
                  <c:v>41</c:v>
                </c:pt>
                <c:pt idx="3">
                  <c:v>13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C1-4282-A63E-5793B83986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1" i="0" u="none" strike="noStrike">
                <a:solidFill>
                  <a:srgbClr val="14171C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14171C"/>
                </a:solidFill>
                <a:latin typeface="+mn-lt"/>
              </a:rPr>
              <a:t>Times more frequent in spam than in ham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Times more frequent in spam than in ham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\×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landline</c:v>
                </c:pt>
                <c:pt idx="1">
                  <c:v>awarded</c:v>
                </c:pt>
                <c:pt idx="2">
                  <c:v>ppm (pence/min)</c:v>
                </c:pt>
                <c:pt idx="3">
                  <c:v>cs (customer service)</c:v>
                </c:pt>
                <c:pt idx="4">
                  <c:v>tone (ringtone)</c:v>
                </c:pt>
                <c:pt idx="5">
                  <c:v>guaranteed</c:v>
                </c:pt>
                <c:pt idx="6">
                  <c:v>18 (age gate)</c:v>
                </c:pt>
                <c:pt idx="7">
                  <c:v>prize</c:v>
                </c:pt>
                <c:pt idx="8">
                  <c:v>claim</c:v>
                </c:pt>
                <c:pt idx="9">
                  <c:v>[phone number]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911.3377777777788</c:v>
                </c:pt>
                <c:pt idx="1">
                  <c:v>1108.5970370370383</c:v>
                </c:pt>
                <c:pt idx="2">
                  <c:v>1148.0488888888892</c:v>
                </c:pt>
                <c:pt idx="3">
                  <c:v>1148.0488888888892</c:v>
                </c:pt>
                <c:pt idx="4">
                  <c:v>1266.4044444444467</c:v>
                </c:pt>
                <c:pt idx="5">
                  <c:v>1384.7600000000014</c:v>
                </c:pt>
                <c:pt idx="6">
                  <c:v>1384.7600000000014</c:v>
                </c:pt>
                <c:pt idx="7">
                  <c:v>2528.8637037037033</c:v>
                </c:pt>
                <c:pt idx="8">
                  <c:v>3041.7377777777779</c:v>
                </c:pt>
                <c:pt idx="9">
                  <c:v>19453.70814814814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FE-4250-A2F8-F36328F6AB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00"/>
          <c:min val="100"/>
        </c:scaling>
        <c:delete val="0"/>
        <c:axPos val="b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\×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1" i="0" u="none" strike="noStrike">
                <a:solidFill>
                  <a:srgbClr val="14171C"/>
                </a:solidFill>
                <a:latin typeface="+mn-lt"/>
              </a:defRPr>
            </a:pPr>
            <a:r>
              <a:rPr lang="en-US" sz="1400" b="1" i="0" u="none" strike="noStrike">
                <a:solidFill>
                  <a:srgbClr val="14171C"/>
                </a:solidFill>
                <a:latin typeface="+mn-lt"/>
              </a:rPr>
              <a:t>Times more frequent in ham than in spam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Times more frequent in ham than in spam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\×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ask</c:v>
                </c:pt>
                <c:pt idx="1">
                  <c:v>happy</c:v>
                </c:pt>
                <c:pt idx="2">
                  <c:v>later</c:v>
                </c:pt>
                <c:pt idx="3">
                  <c:v>much</c:v>
                </c:pt>
                <c:pt idx="4">
                  <c:v>oh</c:v>
                </c:pt>
                <c:pt idx="5">
                  <c:v>da (Singlish)</c:v>
                </c:pt>
                <c:pt idx="6">
                  <c:v>she</c:v>
                </c:pt>
                <c:pt idx="7">
                  <c:v>lor (Singlish)</c:v>
                </c:pt>
                <c:pt idx="8">
                  <c:v>ü (you)</c:v>
                </c:pt>
                <c:pt idx="9">
                  <c:v>he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172.61547127300011</c:v>
                </c:pt>
                <c:pt idx="1">
                  <c:v>187.82388283890324</c:v>
                </c:pt>
                <c:pt idx="2">
                  <c:v>203.03229440480641</c:v>
                </c:pt>
                <c:pt idx="3">
                  <c:v>210.63650018775792</c:v>
                </c:pt>
                <c:pt idx="4">
                  <c:v>223.3101764926771</c:v>
                </c:pt>
                <c:pt idx="5">
                  <c:v>266.40067592940255</c:v>
                </c:pt>
                <c:pt idx="6">
                  <c:v>301.8869695831761</c:v>
                </c:pt>
                <c:pt idx="7">
                  <c:v>309.49117536612783</c:v>
                </c:pt>
                <c:pt idx="8">
                  <c:v>357.65114532482096</c:v>
                </c:pt>
                <c:pt idx="9">
                  <c:v>448.90161472023993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4B-4DB9-8D39-4ABA47AC73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00"/>
          <c:min val="100"/>
        </c:scaling>
        <c:delete val="0"/>
        <c:axPos val="b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\×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B2F97-BE61-4A47-B2DB-BC2E888AC2E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1C3D85-2078-46E4-925A-05CD4BB86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7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I'm Abinash. My project asks whether a Naive Bayes classifier can tell spam texts, like the orange ones on the right, from ordinary texts like the blue ones. I used the public UCI SMS Spam Collection, compared multinomial and Gaussian Naive Bayes, and built the whole pipeline in a single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239C-6407-F5E9-36E6-2E5C2015F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132B8-ADD5-F152-B58D-2A93BEAE4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E2C5A-4AD7-09ED-6CAF-C75D5DB9A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E465-253B-4FFC-BBA1-223349FD788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21676-B6C8-568D-7C35-FB6389FE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E27D5-4967-1A2D-7259-51CAB5D4F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24E4-4BC3-494D-B6AA-E2BCF583C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533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982A-C369-7546-4F45-6049CA8CB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DB9FB-9781-4D56-1092-0C147DD31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43DA5-221A-03DF-4C22-45BDEAD2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E465-253B-4FFC-BBA1-223349FD788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6D86F-E226-86F4-5FBB-13E6EFD40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7732B-5D9C-4382-D49A-EEACC62B1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24E4-4BC3-494D-B6AA-E2BCF583C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38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CC7E-E4F2-84BF-D4F1-D6C5B7DEF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C765C-7B75-A217-E1D6-52E3ACEF2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79969-BF7B-8C23-416F-1571FFD8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E465-253B-4FFC-BBA1-223349FD788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E9810-E60A-1F40-D5D4-8DF3D1E6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6B82B-3B51-463C-F689-74B5917CE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24E4-4BC3-494D-B6AA-E2BCF583C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6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47C54-8D4D-CB4E-CF06-4E8D8368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3DB5A-912F-DD4E-AAB3-E45766691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80779A-97CE-98D5-454B-F22D007DC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9E79A-5130-B4DD-71FC-B30B4781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E465-253B-4FFC-BBA1-223349FD788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88296-DA99-0D08-7F5A-34D72049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FF780-8A62-206F-6529-C1D7D91F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24E4-4BC3-494D-B6AA-E2BCF583C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3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25BB9-BB17-E1F9-F6CE-B9D5E6CDB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BB2D3-AA77-A8DC-7A3A-4ED2410FB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0A46B-8002-B20C-5318-F4B1896A0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DF1D3A-E1DA-7B29-DD95-5B1FA6C57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16E36-4531-E018-FFFC-6AE2B8D51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80684-803F-FA48-5079-340A4B508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E465-253B-4FFC-BBA1-223349FD788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F67E9-D7D8-835F-B5BF-3D8748F6B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5AF12-B8BE-F880-AE57-B8D51A21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24E4-4BC3-494D-B6AA-E2BCF583C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9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2119C-29BA-B220-4DE1-5277E9FE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B9F29D-C998-055C-B684-EB9EB6C6E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E465-253B-4FFC-BBA1-223349FD788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1689A-A994-3B61-94F9-D4BB0E3A9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36FBB-D79C-C1D4-E18E-A41F718AA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24E4-4BC3-494D-B6AA-E2BCF583C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1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0B672-8F73-59D7-828F-5880FDBDF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E465-253B-4FFC-BBA1-223349FD788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BDC9D-416F-182B-E72F-6CBFE191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8E03B-E294-61E1-58AB-D1E00B98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24E4-4BC3-494D-B6AA-E2BCF583C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7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6B392-BF82-8051-808D-05A7DC70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F2EA2-27FC-2254-D80A-5BBC97DC1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B5A1C-AA5C-4E09-B65D-A67F870CBE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537FB-1ED3-C54E-5450-0BE351FC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E465-253B-4FFC-BBA1-223349FD788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D6C50-228E-DFAE-C910-66B410A2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6B6A5-5BE3-9D4A-29A3-D3E26CEC7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24E4-4BC3-494D-B6AA-E2BCF583C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78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C9AB-E4E1-65DE-1BA4-95AF3A8AF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4352E0-41B2-67F3-D7F0-A236999C360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1C9A3E-BFBE-67F9-D752-B2B1A54FB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51488-EF74-E8B6-A7A5-333CA0781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E465-253B-4FFC-BBA1-223349FD788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B5B04-98D2-91BF-8C57-C0CCDE8E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3F457-3D2E-E165-A3A9-4D5BC092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24E4-4BC3-494D-B6AA-E2BCF583C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41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DC825-9316-C1E8-4959-084DB2AC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DC5A9-A74E-C5C5-A0E5-64A2D791D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2AF11-2D76-6DCB-13FD-AF2BAC04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E465-253B-4FFC-BBA1-223349FD788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C9324-759D-90DB-B9C5-27DE5DF03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C5CB8-BC5B-1A40-D97F-9EF7C17A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24E4-4BC3-494D-B6AA-E2BCF583C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14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7D4AB3-AD6D-EAE8-B9E3-B37ABB2EEA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D50BE2-B8A8-209F-1434-B8EBDA1A2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B1407-F747-6423-A516-FEECF2346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DE465-253B-4FFC-BBA1-223349FD788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ABFF8-57DE-253A-8C76-1A7840AC2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68724-975A-D13D-1784-583A857D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24E4-4BC3-494D-B6AA-E2BCF583C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34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60350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657600"/>
            <a:ext cx="5760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5760720"/>
            <a:ext cx="60350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9633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0F264-02B4-7879-99D9-B07CAEEF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6984C-A959-3DE1-6929-1861A1710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4B799-E7F0-67C6-A643-CB1956CBC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DE465-253B-4FFC-BBA1-223349FD7883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872FC-74A1-7DFF-D269-F64441196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C232B-F352-913C-D18D-136B78933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124E4-4BC3-494D-B6AA-E2BCF583C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154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37219"/>
            <a:ext cx="6262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Catching SMS Spam with Naive Bayes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6576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Multinomial vs Gaussian Naive Bayes on the UCI SMS Spam Collection</a:t>
            </a:r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40080" y="57607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Abinash Pant &amp; Prashant Aryal</a:t>
            </a:r>
          </a:p>
        </p:txBody>
      </p:sp>
      <p:sp>
        <p:nvSpPr>
          <p:cNvPr id="5" name="Spam example 1 bubble"/>
          <p:cNvSpPr/>
          <p:nvPr/>
        </p:nvSpPr>
        <p:spPr>
          <a:xfrm>
            <a:off x="7223760" y="868680"/>
            <a:ext cx="4343400" cy="1234440"/>
          </a:xfrm>
          <a:prstGeom prst="wedgeRoundRectCallout">
            <a:avLst/>
          </a:prstGeom>
          <a:solidFill>
            <a:srgbClr val="FCE3D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pam example 1 text"/>
          <p:cNvSpPr txBox="1"/>
          <p:nvPr/>
        </p:nvSpPr>
        <p:spPr>
          <a:xfrm>
            <a:off x="7406640" y="978408"/>
            <a:ext cx="39776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mobile number has won £5000, to claim calls us back or ring the claims hot line on 09050005321.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pam example 1 label"/>
          <p:cNvSpPr txBox="1"/>
          <p:nvPr/>
        </p:nvSpPr>
        <p:spPr>
          <a:xfrm>
            <a:off x="10469880" y="5760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Ham example 1 bubble"/>
          <p:cNvSpPr/>
          <p:nvPr/>
        </p:nvSpPr>
        <p:spPr>
          <a:xfrm>
            <a:off x="7223760" y="2606040"/>
            <a:ext cx="3291840" cy="731520"/>
          </a:xfrm>
          <a:prstGeom prst="wedgeRoundRectCallout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Ham example 1 text"/>
          <p:cNvSpPr txBox="1"/>
          <p:nvPr/>
        </p:nvSpPr>
        <p:spPr>
          <a:xfrm>
            <a:off x="7406640" y="271576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Oh... Icic... K lor, den meet other day...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am example 1 label"/>
          <p:cNvSpPr txBox="1"/>
          <p:nvPr/>
        </p:nvSpPr>
        <p:spPr>
          <a:xfrm>
            <a:off x="9418320" y="23134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pam example 2 bubble"/>
          <p:cNvSpPr/>
          <p:nvPr/>
        </p:nvSpPr>
        <p:spPr>
          <a:xfrm>
            <a:off x="7223760" y="3840480"/>
            <a:ext cx="4343400" cy="1234440"/>
          </a:xfrm>
          <a:prstGeom prst="wedgeRoundRectCallout">
            <a:avLst/>
          </a:prstGeom>
          <a:solidFill>
            <a:srgbClr val="FCE3D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pam example 2 text"/>
          <p:cNvSpPr txBox="1"/>
          <p:nvPr/>
        </p:nvSpPr>
        <p:spPr>
          <a:xfrm>
            <a:off x="7406640" y="3950208"/>
            <a:ext cx="39776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entry into our £250 weekly comp just send the word WIN to 80086 NOW. 18 T&amp;C www.txttowin.co.uk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pam example 2 label"/>
          <p:cNvSpPr txBox="1"/>
          <p:nvPr/>
        </p:nvSpPr>
        <p:spPr>
          <a:xfrm>
            <a:off x="10469880" y="35478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Ham example 2 bubble"/>
          <p:cNvSpPr/>
          <p:nvPr/>
        </p:nvSpPr>
        <p:spPr>
          <a:xfrm>
            <a:off x="7223760" y="5577840"/>
            <a:ext cx="3017520" cy="640080"/>
          </a:xfrm>
          <a:prstGeom prst="wedgeRoundRectCallout">
            <a:avLst/>
          </a:prstGeom>
          <a:solidFill>
            <a:srgbClr val="DCEAFB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Ham example 2 text"/>
          <p:cNvSpPr txBox="1"/>
          <p:nvPr/>
        </p:nvSpPr>
        <p:spPr>
          <a:xfrm>
            <a:off x="7406640" y="568756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there any training tomorrow?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Ham example 2 label"/>
          <p:cNvSpPr txBox="1"/>
          <p:nvPr/>
        </p:nvSpPr>
        <p:spPr>
          <a:xfrm>
            <a:off x="9144000" y="52852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HAM</a:t>
            </a:r>
            <a:endParaRPr 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9B77F2-2EDA-5C1B-7115-6A451CFDE96C}"/>
              </a:ext>
            </a:extLst>
          </p:cNvPr>
          <p:cNvSpPr txBox="1">
            <a:spLocks/>
          </p:cNvSpPr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Three questions for a spam filter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B1D72C-F71B-EFA3-766F-5B256A42A4BA}"/>
              </a:ext>
            </a:extLst>
          </p:cNvPr>
          <p:cNvSpPr txBox="1"/>
          <p:nvPr/>
        </p:nvSpPr>
        <p:spPr>
          <a:xfrm>
            <a:off x="548640" y="14630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texts push premium-rate numbers, fake prizes and scams. A good filter has two jobs that pull against each other: catch the spam and never hide a real message.</a:t>
            </a:r>
          </a:p>
        </p:txBody>
      </p:sp>
      <p:sp>
        <p:nvSpPr>
          <p:cNvPr id="4" name="Bayes rule card">
            <a:extLst>
              <a:ext uri="{FF2B5EF4-FFF2-40B4-BE49-F238E27FC236}">
                <a16:creationId xmlns:a16="http://schemas.microsoft.com/office/drawing/2014/main" id="{54122DF3-A87A-27CC-065E-AD1F81FCF838}"/>
              </a:ext>
            </a:extLst>
          </p:cNvPr>
          <p:cNvSpPr/>
          <p:nvPr/>
        </p:nvSpPr>
        <p:spPr>
          <a:xfrm>
            <a:off x="548640" y="3200400"/>
            <a:ext cx="4572000" cy="2194560"/>
          </a:xfrm>
          <a:prstGeom prst="roundRect">
            <a:avLst>
              <a:gd name="adj" fmla="val 5000"/>
            </a:avLst>
          </a:prstGeom>
          <a:solidFill>
            <a:srgbClr val="ADB177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53D25F-6BCE-6B87-2B14-33553E7CA316}"/>
              </a:ext>
            </a:extLst>
          </p:cNvPr>
          <p:cNvSpPr txBox="1"/>
          <p:nvPr/>
        </p:nvSpPr>
        <p:spPr>
          <a:xfrm>
            <a:off x="82296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tool: Bayes' rule, applied word by word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A0CA99-10D8-47BE-76BE-31B37BB25BFF}"/>
              </a:ext>
            </a:extLst>
          </p:cNvPr>
          <p:cNvSpPr txBox="1"/>
          <p:nvPr/>
        </p:nvSpPr>
        <p:spPr>
          <a:xfrm>
            <a:off x="82296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P(spam | text)  ∝  P(spam) × P(text | spam)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4C14B1E-0625-FDFC-5BDA-DF4F7D8C8082}"/>
              </a:ext>
            </a:extLst>
          </p:cNvPr>
          <p:cNvSpPr txBox="1"/>
          <p:nvPr/>
        </p:nvSpPr>
        <p:spPr>
          <a:xfrm>
            <a:off x="822960" y="44348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"Naive": every word counts as independent evidence once we know the class. Simple, fast, and every decision can be read back word by word.</a:t>
            </a:r>
          </a:p>
        </p:txBody>
      </p:sp>
      <p:sp>
        <p:nvSpPr>
          <p:cNvPr id="8" name="Question 1 card">
            <a:extLst>
              <a:ext uri="{FF2B5EF4-FFF2-40B4-BE49-F238E27FC236}">
                <a16:creationId xmlns:a16="http://schemas.microsoft.com/office/drawing/2014/main" id="{DF0374CB-B920-B863-0189-F1BEEB9023B4}"/>
              </a:ext>
            </a:extLst>
          </p:cNvPr>
          <p:cNvSpPr/>
          <p:nvPr/>
        </p:nvSpPr>
        <p:spPr>
          <a:xfrm>
            <a:off x="5669280" y="1463040"/>
            <a:ext cx="5943600" cy="1188720"/>
          </a:xfrm>
          <a:prstGeom prst="roundRect">
            <a:avLst>
              <a:gd name="adj" fmla="val 9231"/>
            </a:avLst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Question 1 badge">
            <a:extLst>
              <a:ext uri="{FF2B5EF4-FFF2-40B4-BE49-F238E27FC236}">
                <a16:creationId xmlns:a16="http://schemas.microsoft.com/office/drawing/2014/main" id="{B8DBC4FA-235B-0F14-B5C3-84DCA7741374}"/>
              </a:ext>
            </a:extLst>
          </p:cNvPr>
          <p:cNvSpPr/>
          <p:nvPr/>
        </p:nvSpPr>
        <p:spPr>
          <a:xfrm>
            <a:off x="5897880" y="180136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Question 1 number">
            <a:extLst>
              <a:ext uri="{FF2B5EF4-FFF2-40B4-BE49-F238E27FC236}">
                <a16:creationId xmlns:a16="http://schemas.microsoft.com/office/drawing/2014/main" id="{152D4492-BB0F-AB00-C82F-C39AC82A7E76}"/>
              </a:ext>
            </a:extLst>
          </p:cNvPr>
          <p:cNvSpPr txBox="1"/>
          <p:nvPr/>
        </p:nvSpPr>
        <p:spPr>
          <a:xfrm>
            <a:off x="589788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5347C4-718B-8DBB-D540-311BDF1F4F2E}"/>
              </a:ext>
            </a:extLst>
          </p:cNvPr>
          <p:cNvSpPr txBox="1"/>
          <p:nvPr/>
        </p:nvSpPr>
        <p:spPr>
          <a:xfrm>
            <a:off x="6629400" y="17495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well does Naive Bayes catch spam it has never seen?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Question 2 card">
            <a:extLst>
              <a:ext uri="{FF2B5EF4-FFF2-40B4-BE49-F238E27FC236}">
                <a16:creationId xmlns:a16="http://schemas.microsoft.com/office/drawing/2014/main" id="{A66569CD-AE52-C86B-4F57-B44F37B865AC}"/>
              </a:ext>
            </a:extLst>
          </p:cNvPr>
          <p:cNvSpPr/>
          <p:nvPr/>
        </p:nvSpPr>
        <p:spPr>
          <a:xfrm>
            <a:off x="5669280" y="2880360"/>
            <a:ext cx="5943600" cy="1188720"/>
          </a:xfrm>
          <a:prstGeom prst="roundRect">
            <a:avLst>
              <a:gd name="adj" fmla="val 9231"/>
            </a:avLst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Question 2 badge">
            <a:extLst>
              <a:ext uri="{FF2B5EF4-FFF2-40B4-BE49-F238E27FC236}">
                <a16:creationId xmlns:a16="http://schemas.microsoft.com/office/drawing/2014/main" id="{FB430C14-0048-59BD-20CA-AF86797BB90B}"/>
              </a:ext>
            </a:extLst>
          </p:cNvPr>
          <p:cNvSpPr/>
          <p:nvPr/>
        </p:nvSpPr>
        <p:spPr>
          <a:xfrm>
            <a:off x="5897880" y="321868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Question 2 number">
            <a:extLst>
              <a:ext uri="{FF2B5EF4-FFF2-40B4-BE49-F238E27FC236}">
                <a16:creationId xmlns:a16="http://schemas.microsoft.com/office/drawing/2014/main" id="{1505AFBD-C76F-9541-6639-52F38EFBEC69}"/>
              </a:ext>
            </a:extLst>
          </p:cNvPr>
          <p:cNvSpPr txBox="1"/>
          <p:nvPr/>
        </p:nvSpPr>
        <p:spPr>
          <a:xfrm>
            <a:off x="589788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D6FB540-34EF-078D-4C44-AFC5657D2EB3}"/>
              </a:ext>
            </a:extLst>
          </p:cNvPr>
          <p:cNvSpPr txBox="1"/>
          <p:nvPr/>
        </p:nvSpPr>
        <p:spPr>
          <a:xfrm>
            <a:off x="6629400" y="310591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Multinomial or Gaussian: which fits which features, and does combining them help?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Question 3 card">
            <a:extLst>
              <a:ext uri="{FF2B5EF4-FFF2-40B4-BE49-F238E27FC236}">
                <a16:creationId xmlns:a16="http://schemas.microsoft.com/office/drawing/2014/main" id="{DFD44978-29FB-5DB4-8AD0-BF75F47EC417}"/>
              </a:ext>
            </a:extLst>
          </p:cNvPr>
          <p:cNvSpPr/>
          <p:nvPr/>
        </p:nvSpPr>
        <p:spPr>
          <a:xfrm>
            <a:off x="5669280" y="4297680"/>
            <a:ext cx="5943600" cy="1188720"/>
          </a:xfrm>
          <a:prstGeom prst="roundRect">
            <a:avLst>
              <a:gd name="adj" fmla="val 9231"/>
            </a:avLst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Question 3 badge">
            <a:extLst>
              <a:ext uri="{FF2B5EF4-FFF2-40B4-BE49-F238E27FC236}">
                <a16:creationId xmlns:a16="http://schemas.microsoft.com/office/drawing/2014/main" id="{0A497409-9FEE-33C7-968A-D7AF2336C5ED}"/>
              </a:ext>
            </a:extLst>
          </p:cNvPr>
          <p:cNvSpPr/>
          <p:nvPr/>
        </p:nvSpPr>
        <p:spPr>
          <a:xfrm>
            <a:off x="5897880" y="463600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Question 3 number">
            <a:extLst>
              <a:ext uri="{FF2B5EF4-FFF2-40B4-BE49-F238E27FC236}">
                <a16:creationId xmlns:a16="http://schemas.microsoft.com/office/drawing/2014/main" id="{0EF8F7C5-3D4D-49EE-6E80-30FD5FB2F11F}"/>
              </a:ext>
            </a:extLst>
          </p:cNvPr>
          <p:cNvSpPr txBox="1"/>
          <p:nvPr/>
        </p:nvSpPr>
        <p:spPr>
          <a:xfrm>
            <a:off x="5897880" y="4636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9F8338B-67C6-7A62-259A-EE7A450996CB}"/>
              </a:ext>
            </a:extLst>
          </p:cNvPr>
          <p:cNvSpPr txBox="1"/>
          <p:nvPr/>
        </p:nvSpPr>
        <p:spPr>
          <a:xfrm>
            <a:off x="6629400" y="454355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gives spam away, and what still slips through?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0">
            <a:extLst>
              <a:ext uri="{FF2B5EF4-FFF2-40B4-BE49-F238E27FC236}">
                <a16:creationId xmlns:a16="http://schemas.microsoft.com/office/drawing/2014/main" id="{5E1787CB-E0A9-F6D8-E588-396952C5AA1F}"/>
              </a:ext>
            </a:extLst>
          </p:cNvPr>
          <p:cNvSpPr txBox="1">
            <a:spLocks/>
          </p:cNvSpPr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73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>
            <a:extLst>
              <a:ext uri="{FF2B5EF4-FFF2-40B4-BE49-F238E27FC236}">
                <a16:creationId xmlns:a16="http://schemas.microsoft.com/office/drawing/2014/main" id="{38D51ACD-C0F4-91DF-EB5E-07C110D8F922}"/>
              </a:ext>
            </a:extLst>
          </p:cNvPr>
          <p:cNvSpPr txBox="1">
            <a:spLocks/>
          </p:cNvSpPr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5,574 raw messages, 5,159 clean ones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Step 1 badge">
            <a:extLst>
              <a:ext uri="{FF2B5EF4-FFF2-40B4-BE49-F238E27FC236}">
                <a16:creationId xmlns:a16="http://schemas.microsoft.com/office/drawing/2014/main" id="{36670E3B-2827-6EA4-E4BD-0953AC98B396}"/>
              </a:ext>
            </a:extLst>
          </p:cNvPr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Step 1 number">
            <a:extLst>
              <a:ext uri="{FF2B5EF4-FFF2-40B4-BE49-F238E27FC236}">
                <a16:creationId xmlns:a16="http://schemas.microsoft.com/office/drawing/2014/main" id="{69C46834-0DD9-B8A3-2F4A-EB205FE0D84E}"/>
              </a:ext>
            </a:extLst>
          </p:cNvPr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 3">
            <a:extLst>
              <a:ext uri="{FF2B5EF4-FFF2-40B4-BE49-F238E27FC236}">
                <a16:creationId xmlns:a16="http://schemas.microsoft.com/office/drawing/2014/main" id="{2F97EA65-34E4-EF31-A23E-2B8E11BECD74}"/>
              </a:ext>
            </a:extLst>
          </p:cNvPr>
          <p:cNvSpPr txBox="1"/>
          <p:nvPr/>
        </p:nvSpPr>
        <p:spPr>
          <a:xfrm>
            <a:off x="1188720" y="1481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 broken characters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 4">
            <a:extLst>
              <a:ext uri="{FF2B5EF4-FFF2-40B4-BE49-F238E27FC236}">
                <a16:creationId xmlns:a16="http://schemas.microsoft.com/office/drawing/2014/main" id="{DD8AA445-B778-E79A-362F-0989298E231C}"/>
              </a:ext>
            </a:extLst>
          </p:cNvPr>
          <p:cNvSpPr txBox="1"/>
          <p:nvPr/>
        </p:nvSpPr>
        <p:spPr>
          <a:xfrm>
            <a:off x="118872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601 messages had HTML entities or Windows quotes</a:t>
            </a:r>
          </a:p>
        </p:txBody>
      </p:sp>
      <p:sp>
        <p:nvSpPr>
          <p:cNvPr id="95" name="Step 2 badge">
            <a:extLst>
              <a:ext uri="{FF2B5EF4-FFF2-40B4-BE49-F238E27FC236}">
                <a16:creationId xmlns:a16="http://schemas.microsoft.com/office/drawing/2014/main" id="{C5EFE025-CC18-2A33-B863-1FCBD1298494}"/>
              </a:ext>
            </a:extLst>
          </p:cNvPr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Step 2 number">
            <a:extLst>
              <a:ext uri="{FF2B5EF4-FFF2-40B4-BE49-F238E27FC236}">
                <a16:creationId xmlns:a16="http://schemas.microsoft.com/office/drawing/2014/main" id="{6A8DA67E-3E47-8413-CCB4-D30963A041D7}"/>
              </a:ext>
            </a:extLst>
          </p:cNvPr>
          <p:cNvSpPr txBox="1"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 7">
            <a:extLst>
              <a:ext uri="{FF2B5EF4-FFF2-40B4-BE49-F238E27FC236}">
                <a16:creationId xmlns:a16="http://schemas.microsoft.com/office/drawing/2014/main" id="{7E611E12-4674-B565-3B8A-237AF7F064DD}"/>
              </a:ext>
            </a:extLst>
          </p:cNvPr>
          <p:cNvSpPr txBox="1"/>
          <p:nvPr/>
        </p:nvSpPr>
        <p:spPr>
          <a:xfrm>
            <a:off x="1188720" y="2395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 8">
            <a:extLst>
              <a:ext uri="{FF2B5EF4-FFF2-40B4-BE49-F238E27FC236}">
                <a16:creationId xmlns:a16="http://schemas.microsoft.com/office/drawing/2014/main" id="{5571278A-CE9E-93C1-DEAA-11B2CC0BAF76}"/>
              </a:ext>
            </a:extLst>
          </p:cNvPr>
          <p:cNvSpPr txBox="1"/>
          <p:nvPr/>
        </p:nvSpPr>
        <p:spPr>
          <a:xfrm>
            <a:off x="1188720" y="2761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415 copies that would leak into the test set</a:t>
            </a:r>
          </a:p>
        </p:txBody>
      </p:sp>
      <p:sp>
        <p:nvSpPr>
          <p:cNvPr id="99" name="Step 3 badge">
            <a:extLst>
              <a:ext uri="{FF2B5EF4-FFF2-40B4-BE49-F238E27FC236}">
                <a16:creationId xmlns:a16="http://schemas.microsoft.com/office/drawing/2014/main" id="{FA77ECD5-F636-4F6C-7DA7-F815210AAABE}"/>
              </a:ext>
            </a:extLst>
          </p:cNvPr>
          <p:cNvSpPr/>
          <p:nvPr/>
        </p:nvSpPr>
        <p:spPr>
          <a:xfrm>
            <a:off x="548640" y="340156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Step 3 number">
            <a:extLst>
              <a:ext uri="{FF2B5EF4-FFF2-40B4-BE49-F238E27FC236}">
                <a16:creationId xmlns:a16="http://schemas.microsoft.com/office/drawing/2014/main" id="{D7EC13F2-D6C2-30F0-BB81-56C46F22FE4B}"/>
              </a:ext>
            </a:extLst>
          </p:cNvPr>
          <p:cNvSpPr txBox="1"/>
          <p:nvPr/>
        </p:nvSpPr>
        <p:spPr>
          <a:xfrm>
            <a:off x="548640" y="3401568"/>
            <a:ext cx="457200" cy="457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 11">
            <a:extLst>
              <a:ext uri="{FF2B5EF4-FFF2-40B4-BE49-F238E27FC236}">
                <a16:creationId xmlns:a16="http://schemas.microsoft.com/office/drawing/2014/main" id="{D04D15E2-9A6C-672E-1211-20AFDE13A4DB}"/>
              </a:ext>
            </a:extLst>
          </p:cNvPr>
          <p:cNvSpPr txBox="1"/>
          <p:nvPr/>
        </p:nvSpPr>
        <p:spPr>
          <a:xfrm>
            <a:off x="1188720" y="3310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Neutralise a ham-only artifact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 12">
            <a:extLst>
              <a:ext uri="{FF2B5EF4-FFF2-40B4-BE49-F238E27FC236}">
                <a16:creationId xmlns:a16="http://schemas.microsoft.com/office/drawing/2014/main" id="{02335329-BF54-1ED1-0BDE-75F9DEB6B73E}"/>
              </a:ext>
            </a:extLst>
          </p:cNvPr>
          <p:cNvSpPr txBox="1"/>
          <p:nvPr/>
        </p:nvSpPr>
        <p:spPr>
          <a:xfrm>
            <a:off x="1188720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&lt;#&gt; placeholder would be the #1 ham word</a:t>
            </a:r>
          </a:p>
        </p:txBody>
      </p:sp>
      <p:sp>
        <p:nvSpPr>
          <p:cNvPr id="103" name="Step 4 badge">
            <a:extLst>
              <a:ext uri="{FF2B5EF4-FFF2-40B4-BE49-F238E27FC236}">
                <a16:creationId xmlns:a16="http://schemas.microsoft.com/office/drawing/2014/main" id="{5F1142FF-6791-A0E7-B97B-29C980424D40}"/>
              </a:ext>
            </a:extLst>
          </p:cNvPr>
          <p:cNvSpPr/>
          <p:nvPr/>
        </p:nvSpPr>
        <p:spPr>
          <a:xfrm>
            <a:off x="548640" y="431596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Step 4 number">
            <a:extLst>
              <a:ext uri="{FF2B5EF4-FFF2-40B4-BE49-F238E27FC236}">
                <a16:creationId xmlns:a16="http://schemas.microsoft.com/office/drawing/2014/main" id="{F6F8668D-1530-4D5C-0A96-ED5ADE221FDC}"/>
              </a:ext>
            </a:extLst>
          </p:cNvPr>
          <p:cNvSpPr txBox="1"/>
          <p:nvPr/>
        </p:nvSpPr>
        <p:spPr>
          <a:xfrm>
            <a:off x="548640" y="4315968"/>
            <a:ext cx="457200" cy="457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 15">
            <a:extLst>
              <a:ext uri="{FF2B5EF4-FFF2-40B4-BE49-F238E27FC236}">
                <a16:creationId xmlns:a16="http://schemas.microsoft.com/office/drawing/2014/main" id="{053A13FB-7CAC-1F65-4A76-14FC7D7327FF}"/>
              </a:ext>
            </a:extLst>
          </p:cNvPr>
          <p:cNvSpPr txBox="1"/>
          <p:nvPr/>
        </p:nvSpPr>
        <p:spPr>
          <a:xfrm>
            <a:off x="1188720" y="42245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Normalise numbers and links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 16">
            <a:extLst>
              <a:ext uri="{FF2B5EF4-FFF2-40B4-BE49-F238E27FC236}">
                <a16:creationId xmlns:a16="http://schemas.microsoft.com/office/drawing/2014/main" id="{643A346B-4F18-55D1-168A-8144BADA111F}"/>
              </a:ext>
            </a:extLst>
          </p:cNvPr>
          <p:cNvSpPr txBox="1"/>
          <p:nvPr/>
        </p:nvSpPr>
        <p:spPr>
          <a:xfrm>
            <a:off x="1188720" y="45902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phone, money and URL tokens</a:t>
            </a:r>
          </a:p>
        </p:txBody>
      </p:sp>
      <p:sp>
        <p:nvSpPr>
          <p:cNvPr id="107" name="Step 5 badge">
            <a:extLst>
              <a:ext uri="{FF2B5EF4-FFF2-40B4-BE49-F238E27FC236}">
                <a16:creationId xmlns:a16="http://schemas.microsoft.com/office/drawing/2014/main" id="{4CF820EF-CF62-67B3-A753-B0ABD66EC1FA}"/>
              </a:ext>
            </a:extLst>
          </p:cNvPr>
          <p:cNvSpPr/>
          <p:nvPr/>
        </p:nvSpPr>
        <p:spPr>
          <a:xfrm>
            <a:off x="548640" y="523036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Step 5 number">
            <a:extLst>
              <a:ext uri="{FF2B5EF4-FFF2-40B4-BE49-F238E27FC236}">
                <a16:creationId xmlns:a16="http://schemas.microsoft.com/office/drawing/2014/main" id="{84D389BF-4A21-D77E-2A16-A9AE13D2BAB0}"/>
              </a:ext>
            </a:extLst>
          </p:cNvPr>
          <p:cNvSpPr txBox="1"/>
          <p:nvPr/>
        </p:nvSpPr>
        <p:spPr>
          <a:xfrm>
            <a:off x="548640" y="5230368"/>
            <a:ext cx="457200" cy="4572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4F78D024-B2FB-1854-D073-18AF02599FBA}"/>
              </a:ext>
            </a:extLst>
          </p:cNvPr>
          <p:cNvSpPr txBox="1"/>
          <p:nvPr/>
        </p:nvSpPr>
        <p:spPr>
          <a:xfrm>
            <a:off x="1188720" y="5138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80 / 20, stratified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 20">
            <a:extLst>
              <a:ext uri="{FF2B5EF4-FFF2-40B4-BE49-F238E27FC236}">
                <a16:creationId xmlns:a16="http://schemas.microsoft.com/office/drawing/2014/main" id="{B4F9C18F-EA19-6B28-2E26-6FA6EE444B32}"/>
              </a:ext>
            </a:extLst>
          </p:cNvPr>
          <p:cNvSpPr txBox="1"/>
          <p:nvPr/>
        </p:nvSpPr>
        <p:spPr>
          <a:xfrm>
            <a:off x="1188720" y="5504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4,127 train · 1,032 test · 12.4% spam</a:t>
            </a:r>
          </a:p>
        </p:txBody>
      </p:sp>
      <p:graphicFrame>
        <p:nvGraphicFramePr>
          <p:cNvPr id="111" name="Length chart">
            <a:extLst>
              <a:ext uri="{FF2B5EF4-FFF2-40B4-BE49-F238E27FC236}">
                <a16:creationId xmlns:a16="http://schemas.microsoft.com/office/drawing/2014/main" id="{601D7AD9-ED52-65C0-58AA-F038BDC356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4526218"/>
              </p:ext>
            </p:extLst>
          </p:nvPr>
        </p:nvGraphicFramePr>
        <p:xfrm>
          <a:off x="5303520" y="1325880"/>
          <a:ext cx="63093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2" name="Text 21">
            <a:extLst>
              <a:ext uri="{FF2B5EF4-FFF2-40B4-BE49-F238E27FC236}">
                <a16:creationId xmlns:a16="http://schemas.microsoft.com/office/drawing/2014/main" id="{B1FE89DE-8D70-3586-D6DD-FBB5EDA31188}"/>
              </a:ext>
            </a:extLst>
          </p:cNvPr>
          <p:cNvSpPr txBox="1"/>
          <p:nvPr/>
        </p:nvSpPr>
        <p:spPr>
          <a:xfrm>
            <a:off x="5303520" y="57607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fills the 160-character SMS limit: 51% of spam is 140–159 characters long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Dataset source">
            <a:extLst>
              <a:ext uri="{FF2B5EF4-FFF2-40B4-BE49-F238E27FC236}">
                <a16:creationId xmlns:a16="http://schemas.microsoft.com/office/drawing/2014/main" id="{DED20B39-EB59-D06B-58FC-43E69DEBD410}"/>
              </a:ext>
            </a:extLst>
          </p:cNvPr>
          <p:cNvSpPr txBox="1"/>
          <p:nvPr/>
        </p:nvSpPr>
        <p:spPr>
          <a:xfrm>
            <a:off x="54864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UCI SMS Spam Collection (Almeida, Gómez Hidalgo &amp; Yamakami, 2011)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Slide Number Placeholder 0">
            <a:extLst>
              <a:ext uri="{FF2B5EF4-FFF2-40B4-BE49-F238E27FC236}">
                <a16:creationId xmlns:a16="http://schemas.microsoft.com/office/drawing/2014/main" id="{FEB9F223-FEC3-EE74-5E32-DD1ED16C46C3}"/>
              </a:ext>
            </a:extLst>
          </p:cNvPr>
          <p:cNvSpPr txBox="1">
            <a:spLocks/>
          </p:cNvSpPr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548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A3ACA-00A3-5CB4-7B0F-71A8F0E8C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CAA3AE-16A4-7BC3-87BD-E646912DAEA7}"/>
              </a:ext>
            </a:extLst>
          </p:cNvPr>
          <p:cNvSpPr txBox="1">
            <a:spLocks/>
          </p:cNvSpPr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Same Bayes rule, different event models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quation band">
            <a:extLst>
              <a:ext uri="{FF2B5EF4-FFF2-40B4-BE49-F238E27FC236}">
                <a16:creationId xmlns:a16="http://schemas.microsoft.com/office/drawing/2014/main" id="{BD7FDBBC-2368-A305-F456-B1C98A2C94F4}"/>
              </a:ext>
            </a:extLst>
          </p:cNvPr>
          <p:cNvSpPr/>
          <p:nvPr/>
        </p:nvSpPr>
        <p:spPr>
          <a:xfrm>
            <a:off x="548640" y="137160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F27E41-40FD-66C5-5DAF-CEBF0A8713CE}"/>
              </a:ext>
            </a:extLst>
          </p:cNvPr>
          <p:cNvSpPr txBox="1"/>
          <p:nvPr/>
        </p:nvSpPr>
        <p:spPr>
          <a:xfrm>
            <a:off x="822960" y="14630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log P(y | x)  =  log P(y)  +  Σ</a:t>
            </a:r>
            <a:r>
              <a:rPr lang="en-US" sz="2200" baseline="-40000" dirty="0"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j</a:t>
            </a:r>
            <a:r>
              <a:rPr lang="en-US" sz="2200" dirty="0"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 log P(x</a:t>
            </a:r>
            <a:r>
              <a:rPr lang="en-US" sz="2200" baseline="-40000" dirty="0"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j</a:t>
            </a:r>
            <a:r>
              <a:rPr lang="en-US" sz="2200" dirty="0">
                <a:latin typeface="Times New Roman" panose="02020603050405020304" pitchFamily="18" charset="0"/>
                <a:ea typeface="Cambria Math" pitchFamily="34" charset="-122"/>
                <a:cs typeface="Times New Roman" panose="02020603050405020304" pitchFamily="18" charset="0"/>
              </a:rPr>
              <a:t> | y)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807395-A917-EA63-9DD2-9288732B1262}"/>
              </a:ext>
            </a:extLst>
          </p:cNvPr>
          <p:cNvSpPr txBox="1"/>
          <p:nvPr/>
        </p:nvSpPr>
        <p:spPr>
          <a:xfrm>
            <a:off x="6675120" y="14630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differ only in P(x</a:t>
            </a:r>
            <a:r>
              <a:rPr lang="en-US" sz="1400" baseline="-4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y), the shape assumed for each feature</a:t>
            </a:r>
          </a:p>
        </p:txBody>
      </p:sp>
      <p:sp>
        <p:nvSpPr>
          <p:cNvPr id="6" name="Multinomial NB card">
            <a:extLst>
              <a:ext uri="{FF2B5EF4-FFF2-40B4-BE49-F238E27FC236}">
                <a16:creationId xmlns:a16="http://schemas.microsoft.com/office/drawing/2014/main" id="{9BD98F63-8D0F-D482-7B64-228126AAB6B8}"/>
              </a:ext>
            </a:extLst>
          </p:cNvPr>
          <p:cNvSpPr/>
          <p:nvPr/>
        </p:nvSpPr>
        <p:spPr>
          <a:xfrm>
            <a:off x="548640" y="242316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Multinomial NB colour key">
            <a:extLst>
              <a:ext uri="{FF2B5EF4-FFF2-40B4-BE49-F238E27FC236}">
                <a16:creationId xmlns:a16="http://schemas.microsoft.com/office/drawing/2014/main" id="{E9F67BAC-CCFE-F233-CBF8-7C46B135D0BB}"/>
              </a:ext>
            </a:extLst>
          </p:cNvPr>
          <p:cNvSpPr/>
          <p:nvPr/>
        </p:nvSpPr>
        <p:spPr>
          <a:xfrm>
            <a:off x="777240" y="2670048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C4F8EBD-6F86-77E8-C82F-034D2A06330D}"/>
              </a:ext>
            </a:extLst>
          </p:cNvPr>
          <p:cNvSpPr txBox="1"/>
          <p:nvPr/>
        </p:nvSpPr>
        <p:spPr>
          <a:xfrm>
            <a:off x="1097280" y="2587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Multinomial NB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262CFF-4E01-D4EF-9012-21EBDE04F3DD}"/>
              </a:ext>
            </a:extLst>
          </p:cNvPr>
          <p:cNvSpPr txBox="1"/>
          <p:nvPr/>
        </p:nvSpPr>
        <p:spPr>
          <a:xfrm>
            <a:off x="777240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counts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E35616F-B9D0-DC4F-E8C1-CC01AA177CE0}"/>
              </a:ext>
            </a:extLst>
          </p:cNvPr>
          <p:cNvSpPr txBox="1"/>
          <p:nvPr/>
        </p:nvSpPr>
        <p:spPr>
          <a:xfrm>
            <a:off x="777240" y="3429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word is drawn from a class-specific word distribution; smoothing α avoids zero probabilities.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4C05E68-5753-3BA9-D494-D28DB4A6FF2C}"/>
              </a:ext>
            </a:extLst>
          </p:cNvPr>
          <p:cNvSpPr txBox="1"/>
          <p:nvPr/>
        </p:nvSpPr>
        <p:spPr>
          <a:xfrm>
            <a:off x="777240" y="4663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Message words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Bernoulli NB card">
            <a:extLst>
              <a:ext uri="{FF2B5EF4-FFF2-40B4-BE49-F238E27FC236}">
                <a16:creationId xmlns:a16="http://schemas.microsoft.com/office/drawing/2014/main" id="{86EC1451-BC5F-433C-37EA-03F9C5BF982C}"/>
              </a:ext>
            </a:extLst>
          </p:cNvPr>
          <p:cNvSpPr/>
          <p:nvPr/>
        </p:nvSpPr>
        <p:spPr>
          <a:xfrm>
            <a:off x="3383280" y="242316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Bernoulli NB colour key">
            <a:extLst>
              <a:ext uri="{FF2B5EF4-FFF2-40B4-BE49-F238E27FC236}">
                <a16:creationId xmlns:a16="http://schemas.microsoft.com/office/drawing/2014/main" id="{DF7875BB-4D17-FFC3-15A5-03D1865EC3F9}"/>
              </a:ext>
            </a:extLst>
          </p:cNvPr>
          <p:cNvSpPr/>
          <p:nvPr/>
        </p:nvSpPr>
        <p:spPr>
          <a:xfrm>
            <a:off x="3611880" y="2670048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3F7055F-ED8E-0C01-29C0-98A4A69498C8}"/>
              </a:ext>
            </a:extLst>
          </p:cNvPr>
          <p:cNvSpPr txBox="1"/>
          <p:nvPr/>
        </p:nvSpPr>
        <p:spPr>
          <a:xfrm>
            <a:off x="3931920" y="2587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Bernoulli NB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BFF5417-2742-F5C5-0F8E-524432E350CD}"/>
              </a:ext>
            </a:extLst>
          </p:cNvPr>
          <p:cNvSpPr txBox="1"/>
          <p:nvPr/>
        </p:nvSpPr>
        <p:spPr>
          <a:xfrm>
            <a:off x="3611880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presence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B4B5FDF-277E-DAC3-6A61-89627075F003}"/>
              </a:ext>
            </a:extLst>
          </p:cNvPr>
          <p:cNvSpPr txBox="1"/>
          <p:nvPr/>
        </p:nvSpPr>
        <p:spPr>
          <a:xfrm>
            <a:off x="3611880" y="3429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Asks only which words appear, and also scores the absence of spam words.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1E80F2F-E789-0185-A464-20730116DFCF}"/>
              </a:ext>
            </a:extLst>
          </p:cNvPr>
          <p:cNvSpPr txBox="1"/>
          <p:nvPr/>
        </p:nvSpPr>
        <p:spPr>
          <a:xfrm>
            <a:off x="3611880" y="4663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Message words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Gaussian NB card">
            <a:extLst>
              <a:ext uri="{FF2B5EF4-FFF2-40B4-BE49-F238E27FC236}">
                <a16:creationId xmlns:a16="http://schemas.microsoft.com/office/drawing/2014/main" id="{341DCB24-23F2-16BE-8B4A-BFEED78BF7E8}"/>
              </a:ext>
            </a:extLst>
          </p:cNvPr>
          <p:cNvSpPr/>
          <p:nvPr/>
        </p:nvSpPr>
        <p:spPr>
          <a:xfrm>
            <a:off x="6217920" y="242316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tx2">
              <a:lumMod val="50000"/>
              <a:lumOff val="5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Gaussian NB colour key">
            <a:extLst>
              <a:ext uri="{FF2B5EF4-FFF2-40B4-BE49-F238E27FC236}">
                <a16:creationId xmlns:a16="http://schemas.microsoft.com/office/drawing/2014/main" id="{AF11B417-76BB-C6F2-31DB-1A95B3F5FB25}"/>
              </a:ext>
            </a:extLst>
          </p:cNvPr>
          <p:cNvSpPr/>
          <p:nvPr/>
        </p:nvSpPr>
        <p:spPr>
          <a:xfrm>
            <a:off x="6446520" y="2670048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B3791A4-3D76-F2C0-4A58-42689B5DC46F}"/>
              </a:ext>
            </a:extLst>
          </p:cNvPr>
          <p:cNvSpPr txBox="1"/>
          <p:nvPr/>
        </p:nvSpPr>
        <p:spPr>
          <a:xfrm>
            <a:off x="6766560" y="2587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NB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472CBE3-EDDD-C178-F5FE-47D3E6E779FA}"/>
              </a:ext>
            </a:extLst>
          </p:cNvPr>
          <p:cNvSpPr txBox="1"/>
          <p:nvPr/>
        </p:nvSpPr>
        <p:spPr>
          <a:xfrm>
            <a:off x="6446520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values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66E2C27-B1B5-B74F-D30C-58A4C94E47CE}"/>
              </a:ext>
            </a:extLst>
          </p:cNvPr>
          <p:cNvSpPr txBox="1"/>
          <p:nvPr/>
        </p:nvSpPr>
        <p:spPr>
          <a:xfrm>
            <a:off x="6446520" y="3429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bell curve per feature and class, fitted after log(1 + x).</a:t>
            </a: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BD1AAB3-30D0-2545-AE03-64342596ED8B}"/>
              </a:ext>
            </a:extLst>
          </p:cNvPr>
          <p:cNvSpPr txBox="1"/>
          <p:nvPr/>
        </p:nvSpPr>
        <p:spPr>
          <a:xfrm>
            <a:off x="6446520" y="4663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8 statistics: length, digits, capitals, £, links…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Hybrid NB card">
            <a:extLst>
              <a:ext uri="{FF2B5EF4-FFF2-40B4-BE49-F238E27FC236}">
                <a16:creationId xmlns:a16="http://schemas.microsoft.com/office/drawing/2014/main" id="{584A48B6-3AF2-8060-90F5-7EAFF41FA336}"/>
              </a:ext>
            </a:extLst>
          </p:cNvPr>
          <p:cNvSpPr/>
          <p:nvPr/>
        </p:nvSpPr>
        <p:spPr>
          <a:xfrm>
            <a:off x="9052560" y="2423160"/>
            <a:ext cx="2606040" cy="2926080"/>
          </a:xfrm>
          <a:prstGeom prst="roundRect">
            <a:avLst>
              <a:gd name="adj" fmla="val 4211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Hybrid NB colour key">
            <a:extLst>
              <a:ext uri="{FF2B5EF4-FFF2-40B4-BE49-F238E27FC236}">
                <a16:creationId xmlns:a16="http://schemas.microsoft.com/office/drawing/2014/main" id="{892AF1B8-2C0B-EA57-7DCF-DEA2AEB804C0}"/>
              </a:ext>
            </a:extLst>
          </p:cNvPr>
          <p:cNvSpPr/>
          <p:nvPr/>
        </p:nvSpPr>
        <p:spPr>
          <a:xfrm>
            <a:off x="9281160" y="267004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8C2BBE1-2219-B3E9-2779-B9676E20F50A}"/>
              </a:ext>
            </a:extLst>
          </p:cNvPr>
          <p:cNvSpPr txBox="1"/>
          <p:nvPr/>
        </p:nvSpPr>
        <p:spPr>
          <a:xfrm>
            <a:off x="9601200" y="25877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NB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EB10F37-F9DC-1D4B-A698-B6E84152CD7D}"/>
              </a:ext>
            </a:extLst>
          </p:cNvPr>
          <p:cNvSpPr txBox="1"/>
          <p:nvPr/>
        </p:nvSpPr>
        <p:spPr>
          <a:xfrm>
            <a:off x="9281160" y="3017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+ statistics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B63216A-24DC-3354-A9F7-E30E5BE84DED}"/>
              </a:ext>
            </a:extLst>
          </p:cNvPr>
          <p:cNvSpPr txBox="1"/>
          <p:nvPr/>
        </p:nvSpPr>
        <p:spPr>
          <a:xfrm>
            <a:off x="9281160" y="34290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the multinomial and Gaussian log-likelihoods; the prior is counted once.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0BB26F5-B2B4-0708-DEEF-8440EED21F28}"/>
              </a:ext>
            </a:extLst>
          </p:cNvPr>
          <p:cNvSpPr txBox="1"/>
          <p:nvPr/>
        </p:nvSpPr>
        <p:spPr>
          <a:xfrm>
            <a:off x="9281160" y="4663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for: Both at once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5D31420-701A-78C0-8D54-25D38484AFFF}"/>
              </a:ext>
            </a:extLst>
          </p:cNvPr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 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5-fold cross-validation on the training set tunes α, variance smoothing and n-grams (scored by spam F1); the test set is opened once. Multinomial NB written from scratch matches scikit-learn to within 1.4 × 10</a:t>
            </a:r>
            <a:r>
              <a:rPr lang="en-US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-14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1" name="Slide Number Placeholder 0">
            <a:extLst>
              <a:ext uri="{FF2B5EF4-FFF2-40B4-BE49-F238E27FC236}">
                <a16:creationId xmlns:a16="http://schemas.microsoft.com/office/drawing/2014/main" id="{558B02DB-CCEF-30C7-DED1-4FBB72C0B6F0}"/>
              </a:ext>
            </a:extLst>
          </p:cNvPr>
          <p:cNvSpPr txBox="1">
            <a:spLocks/>
          </p:cNvSpPr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449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C9A68-80E3-75B4-A21C-C41F1F18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9EE1C4-FEDD-1787-69F8-0E2C96FEF8E5}"/>
              </a:ext>
            </a:extLst>
          </p:cNvPr>
          <p:cNvSpPr txBox="1">
            <a:spLocks/>
          </p:cNvSpPr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Final filter: no false alarms, 88% of spam caught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F1 chart">
            <a:extLst>
              <a:ext uri="{FF2B5EF4-FFF2-40B4-BE49-F238E27FC236}">
                <a16:creationId xmlns:a16="http://schemas.microsoft.com/office/drawing/2014/main" id="{72E58B39-1CD0-06ED-93D9-DFDB80861C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957872"/>
              </p:ext>
            </p:extLst>
          </p:nvPr>
        </p:nvGraphicFramePr>
        <p:xfrm>
          <a:off x="457200" y="1325880"/>
          <a:ext cx="70408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1">
            <a:extLst>
              <a:ext uri="{FF2B5EF4-FFF2-40B4-BE49-F238E27FC236}">
                <a16:creationId xmlns:a16="http://schemas.microsoft.com/office/drawing/2014/main" id="{57213055-E1CD-BE3A-5CAF-43530B3DAD96}"/>
              </a:ext>
            </a:extLst>
          </p:cNvPr>
          <p:cNvSpPr txBox="1"/>
          <p:nvPr/>
        </p:nvSpPr>
        <p:spPr>
          <a:xfrm>
            <a:off x="795528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/ 904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0BEF434-10B8-9D1E-96F8-137EB97CE043}"/>
              </a:ext>
            </a:extLst>
          </p:cNvPr>
          <p:cNvSpPr txBox="1"/>
          <p:nvPr/>
        </p:nvSpPr>
        <p:spPr>
          <a:xfrm>
            <a:off x="7955280" y="2194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legitimate messages flagged as spam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96A361-1B78-779C-B2DE-AFFC763DD277}"/>
              </a:ext>
            </a:extLst>
          </p:cNvPr>
          <p:cNvSpPr txBox="1"/>
          <p:nvPr/>
        </p:nvSpPr>
        <p:spPr>
          <a:xfrm>
            <a:off x="7955280" y="2880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112 / 128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6C41DD1-9AEE-FEED-8068-F72693712957}"/>
              </a:ext>
            </a:extLst>
          </p:cNvPr>
          <p:cNvSpPr txBox="1"/>
          <p:nvPr/>
        </p:nvSpPr>
        <p:spPr>
          <a:xfrm>
            <a:off x="795528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caught (recall 87.5%)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8972A3D-660D-B9A1-18BF-DC9998F40F32}"/>
              </a:ext>
            </a:extLst>
          </p:cNvPr>
          <p:cNvSpPr txBox="1"/>
          <p:nvPr/>
        </p:nvSpPr>
        <p:spPr>
          <a:xfrm>
            <a:off x="7955280" y="43434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0.933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C1F1E04-BB4A-C8D1-9F13-85A5F76BB489}"/>
              </a:ext>
            </a:extLst>
          </p:cNvPr>
          <p:cNvSpPr txBox="1"/>
          <p:nvPr/>
        </p:nvSpPr>
        <p:spPr>
          <a:xfrm>
            <a:off x="7955280" y="5120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F1, 95% CI 0.896–0.964; multinomial NB ties at 0.935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8C8746D-7689-F3FA-BAF4-CBDE127966B9}"/>
              </a:ext>
            </a:extLst>
          </p:cNvPr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"always ham": 87.6% accuracy, catches no spam, so accuracy alone misleads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0">
            <a:extLst>
              <a:ext uri="{FF2B5EF4-FFF2-40B4-BE49-F238E27FC236}">
                <a16:creationId xmlns:a16="http://schemas.microsoft.com/office/drawing/2014/main" id="{4237F77C-A300-9797-66A3-B436B5BE8FE1}"/>
              </a:ext>
            </a:extLst>
          </p:cNvPr>
          <p:cNvSpPr txBox="1">
            <a:spLocks/>
          </p:cNvSpPr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87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67145-1D9A-D91B-789A-0E404BE7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FEDCE8-78AC-91F4-AE4A-B365BE0EDEDE}"/>
              </a:ext>
            </a:extLst>
          </p:cNvPr>
          <p:cNvSpPr txBox="1">
            <a:spLocks/>
          </p:cNvSpPr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Match the event model to the data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Errors chart">
            <a:extLst>
              <a:ext uri="{FF2B5EF4-FFF2-40B4-BE49-F238E27FC236}">
                <a16:creationId xmlns:a16="http://schemas.microsoft.com/office/drawing/2014/main" id="{CF9495B5-76BA-C536-F6C8-A1C8F08733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7687051"/>
              </p:ext>
            </p:extLst>
          </p:nvPr>
        </p:nvGraphicFramePr>
        <p:xfrm>
          <a:off x="457200" y="1325880"/>
          <a:ext cx="67665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Finding 1 key">
            <a:extLst>
              <a:ext uri="{FF2B5EF4-FFF2-40B4-BE49-F238E27FC236}">
                <a16:creationId xmlns:a16="http://schemas.microsoft.com/office/drawing/2014/main" id="{FDB9DF53-ABB6-7347-D77F-9AAC4F90F6B3}"/>
              </a:ext>
            </a:extLst>
          </p:cNvPr>
          <p:cNvSpPr/>
          <p:nvPr/>
        </p:nvSpPr>
        <p:spPr>
          <a:xfrm>
            <a:off x="7635240" y="155448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686FCFE-24E2-9E2D-3F2E-07620AA8F81E}"/>
              </a:ext>
            </a:extLst>
          </p:cNvPr>
          <p:cNvSpPr txBox="1"/>
          <p:nvPr/>
        </p:nvSpPr>
        <p:spPr>
          <a:xfrm>
            <a:off x="800100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on word counts misses spam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B5060EB-1F43-C3C4-1EA7-E2500073DAA6}"/>
              </a:ext>
            </a:extLst>
          </p:cNvPr>
          <p:cNvSpPr txBox="1"/>
          <p:nvPr/>
        </p:nvSpPr>
        <p:spPr>
          <a:xfrm>
            <a:off x="8001000" y="18745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41 of 128 missed: a bell curve cannot model counts that are almost always 0.</a:t>
            </a:r>
          </a:p>
        </p:txBody>
      </p:sp>
      <p:sp>
        <p:nvSpPr>
          <p:cNvPr id="7" name="Finding 2 key">
            <a:extLst>
              <a:ext uri="{FF2B5EF4-FFF2-40B4-BE49-F238E27FC236}">
                <a16:creationId xmlns:a16="http://schemas.microsoft.com/office/drawing/2014/main" id="{D5C5592C-AC46-A62D-C892-F5C7CB435544}"/>
              </a:ext>
            </a:extLst>
          </p:cNvPr>
          <p:cNvSpPr/>
          <p:nvPr/>
        </p:nvSpPr>
        <p:spPr>
          <a:xfrm>
            <a:off x="7635240" y="3108960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79124C0-C5BA-5E5B-644C-1514BE13DA66}"/>
              </a:ext>
            </a:extLst>
          </p:cNvPr>
          <p:cNvSpPr txBox="1"/>
          <p:nvPr/>
        </p:nvSpPr>
        <p:spPr>
          <a:xfrm>
            <a:off x="8001000" y="3017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on statistics works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5CEC29C-6409-96D3-4DC7-C29F9CDD91CD}"/>
              </a:ext>
            </a:extLst>
          </p:cNvPr>
          <p:cNvSpPr txBox="1"/>
          <p:nvPr/>
        </p:nvSpPr>
        <p:spPr>
          <a:xfrm>
            <a:off x="8001000" y="342900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0.82, and the best of all models from only 66 training messages (F1 0.84 vs 0.67 for logistic regression).</a:t>
            </a:r>
          </a:p>
        </p:txBody>
      </p:sp>
      <p:sp>
        <p:nvSpPr>
          <p:cNvPr id="10" name="Finding 3 key">
            <a:extLst>
              <a:ext uri="{FF2B5EF4-FFF2-40B4-BE49-F238E27FC236}">
                <a16:creationId xmlns:a16="http://schemas.microsoft.com/office/drawing/2014/main" id="{CC1630A0-6356-0E08-D70C-646B5175E3D5}"/>
              </a:ext>
            </a:extLst>
          </p:cNvPr>
          <p:cNvSpPr/>
          <p:nvPr/>
        </p:nvSpPr>
        <p:spPr>
          <a:xfrm>
            <a:off x="7635240" y="466344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8A26E17-AF06-5A2E-9D7E-C4A1435401A1}"/>
              </a:ext>
            </a:extLst>
          </p:cNvPr>
          <p:cNvSpPr txBox="1"/>
          <p:nvPr/>
        </p:nvSpPr>
        <p:spPr>
          <a:xfrm>
            <a:off x="8001000" y="45720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both adds false alarms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8B469D6-7600-6706-D4C8-23C07EBCE815}"/>
              </a:ext>
            </a:extLst>
          </p:cNvPr>
          <p:cNvSpPr txBox="1"/>
          <p:nvPr/>
        </p:nvSpPr>
        <p:spPr>
          <a:xfrm>
            <a:off x="8001000" y="49834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vs 3: characters and words correlate at 0.97, so length is counted twice.</a:t>
            </a:r>
          </a:p>
        </p:txBody>
      </p:sp>
      <p:sp>
        <p:nvSpPr>
          <p:cNvPr id="13" name="Slide Number Placeholder 0">
            <a:extLst>
              <a:ext uri="{FF2B5EF4-FFF2-40B4-BE49-F238E27FC236}">
                <a16:creationId xmlns:a16="http://schemas.microsoft.com/office/drawing/2014/main" id="{A243DB2E-5493-8EFB-4F54-73D11A1188E5}"/>
              </a:ext>
            </a:extLst>
          </p:cNvPr>
          <p:cNvSpPr txBox="1">
            <a:spLocks/>
          </p:cNvSpPr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26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B25D3-2546-50F8-D705-1F70ADA25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3CF70F-9131-00F8-00B8-AF8D8DEC019D}"/>
              </a:ext>
            </a:extLst>
          </p:cNvPr>
          <p:cNvSpPr txBox="1">
            <a:spLocks/>
          </p:cNvSpPr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numbers and prizes give spam away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imes more frequent in spam than in ham chart">
            <a:extLst>
              <a:ext uri="{FF2B5EF4-FFF2-40B4-BE49-F238E27FC236}">
                <a16:creationId xmlns:a16="http://schemas.microsoft.com/office/drawing/2014/main" id="{7038D808-3B21-A155-967C-7191AB81C0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8341267"/>
              </p:ext>
            </p:extLst>
          </p:nvPr>
        </p:nvGraphicFramePr>
        <p:xfrm>
          <a:off x="457200" y="1280160"/>
          <a:ext cx="548640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Times more frequent in ham than in spam chart">
            <a:extLst>
              <a:ext uri="{FF2B5EF4-FFF2-40B4-BE49-F238E27FC236}">
                <a16:creationId xmlns:a16="http://schemas.microsoft.com/office/drawing/2014/main" id="{BEA34747-A748-D763-4C2A-40EE9D3C80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5842835"/>
              </p:ext>
            </p:extLst>
          </p:nvPr>
        </p:nvGraphicFramePr>
        <p:xfrm>
          <a:off x="6217920" y="1280160"/>
          <a:ext cx="548640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>
            <a:extLst>
              <a:ext uri="{FF2B5EF4-FFF2-40B4-BE49-F238E27FC236}">
                <a16:creationId xmlns:a16="http://schemas.microsoft.com/office/drawing/2014/main" id="{432A574A-873C-C7E3-E508-70E82A360C29}"/>
              </a:ext>
            </a:extLst>
          </p:cNvPr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slipped through: 16 spam messages, 12 with no phone number, money amount or link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issed spam 1 bubble">
            <a:extLst>
              <a:ext uri="{FF2B5EF4-FFF2-40B4-BE49-F238E27FC236}">
                <a16:creationId xmlns:a16="http://schemas.microsoft.com/office/drawing/2014/main" id="{559F427A-2F06-0143-4F10-E230A976B8DA}"/>
              </a:ext>
            </a:extLst>
          </p:cNvPr>
          <p:cNvSpPr/>
          <p:nvPr/>
        </p:nvSpPr>
        <p:spPr>
          <a:xfrm>
            <a:off x="548640" y="5486400"/>
            <a:ext cx="4754880" cy="685800"/>
          </a:xfrm>
          <a:prstGeom prst="wedgeRoundRectCallout">
            <a:avLst/>
          </a:prstGeom>
          <a:solidFill>
            <a:srgbClr val="FCE3D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Missed spam 1 text">
            <a:extLst>
              <a:ext uri="{FF2B5EF4-FFF2-40B4-BE49-F238E27FC236}">
                <a16:creationId xmlns:a16="http://schemas.microsoft.com/office/drawing/2014/main" id="{74BD4D94-45C7-3F14-7037-AE1294AB6F02}"/>
              </a:ext>
            </a:extLst>
          </p:cNvPr>
          <p:cNvSpPr txBox="1"/>
          <p:nvPr/>
        </p:nvSpPr>
        <p:spPr>
          <a:xfrm>
            <a:off x="731520" y="5596128"/>
            <a:ext cx="4389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Latest News! Police station toilet stolen, cops have nothing to go on!</a:t>
            </a:r>
          </a:p>
        </p:txBody>
      </p:sp>
      <p:sp>
        <p:nvSpPr>
          <p:cNvPr id="8" name="Missed spam 2 bubble">
            <a:extLst>
              <a:ext uri="{FF2B5EF4-FFF2-40B4-BE49-F238E27FC236}">
                <a16:creationId xmlns:a16="http://schemas.microsoft.com/office/drawing/2014/main" id="{8CB40D3B-7FD2-5F52-5DAB-9F4CA79D2C99}"/>
              </a:ext>
            </a:extLst>
          </p:cNvPr>
          <p:cNvSpPr/>
          <p:nvPr/>
        </p:nvSpPr>
        <p:spPr>
          <a:xfrm>
            <a:off x="5577840" y="5486400"/>
            <a:ext cx="6035040" cy="685800"/>
          </a:xfrm>
          <a:prstGeom prst="wedgeRoundRectCallout">
            <a:avLst/>
          </a:prstGeom>
          <a:solidFill>
            <a:srgbClr val="FCE3D8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Missed spam 2 text">
            <a:extLst>
              <a:ext uri="{FF2B5EF4-FFF2-40B4-BE49-F238E27FC236}">
                <a16:creationId xmlns:a16="http://schemas.microsoft.com/office/drawing/2014/main" id="{AB73BBC8-B86C-DE4F-A82C-CA61E53A77C1}"/>
              </a:ext>
            </a:extLst>
          </p:cNvPr>
          <p:cNvSpPr txBox="1"/>
          <p:nvPr/>
        </p:nvSpPr>
        <p:spPr>
          <a:xfrm>
            <a:off x="5760720" y="5596128"/>
            <a:ext cx="56692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you realize that in about 40 years, we'll have thousands of old ladies running around with tattoos?</a:t>
            </a:r>
          </a:p>
        </p:txBody>
      </p:sp>
      <p:sp>
        <p:nvSpPr>
          <p:cNvPr id="10" name="Slide Number Placeholder 0">
            <a:extLst>
              <a:ext uri="{FF2B5EF4-FFF2-40B4-BE49-F238E27FC236}">
                <a16:creationId xmlns:a16="http://schemas.microsoft.com/office/drawing/2014/main" id="{FF0620BC-C796-62BA-BB45-799F285F6183}"/>
              </a:ext>
            </a:extLst>
          </p:cNvPr>
          <p:cNvSpPr txBox="1">
            <a:spLocks/>
          </p:cNvSpPr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760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97061-C4AC-6975-FE69-1A8E3B8B5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35E536-AD39-2793-32EB-48CA6FE301E6}"/>
              </a:ext>
            </a:extLst>
          </p:cNvPr>
          <p:cNvSpPr txBox="1">
            <a:spLocks/>
          </p:cNvSpPr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Q1 card">
            <a:extLst>
              <a:ext uri="{FF2B5EF4-FFF2-40B4-BE49-F238E27FC236}">
                <a16:creationId xmlns:a16="http://schemas.microsoft.com/office/drawing/2014/main" id="{CD4C8382-4158-7103-AF9B-E7FCAD6382AA}"/>
              </a:ext>
            </a:extLst>
          </p:cNvPr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E3350"/>
          </a:solidFill>
          <a:ln/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789D44-C710-8EB6-745D-4EF9A8D313BE}"/>
              </a:ext>
            </a:extLst>
          </p:cNvPr>
          <p:cNvSpPr txBox="1"/>
          <p:nvPr/>
        </p:nvSpPr>
        <p:spPr>
          <a:xfrm>
            <a:off x="822960" y="1876315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 works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1E330AA-EA8A-A343-234B-F92765712FEA}"/>
              </a:ext>
            </a:extLst>
          </p:cNvPr>
          <p:cNvSpPr txBox="1"/>
          <p:nvPr/>
        </p:nvSpPr>
        <p:spPr>
          <a:xfrm>
            <a:off x="822960" y="2514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98.4% accuracy, zero false alarms and F1 0.93 on unseen messages, from a model you can read word by word.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Q2 card">
            <a:extLst>
              <a:ext uri="{FF2B5EF4-FFF2-40B4-BE49-F238E27FC236}">
                <a16:creationId xmlns:a16="http://schemas.microsoft.com/office/drawing/2014/main" id="{4201CDA6-8D91-BCFF-CE02-3AFBBFEEA32C}"/>
              </a:ext>
            </a:extLst>
          </p:cNvPr>
          <p:cNvSpPr/>
          <p:nvPr/>
        </p:nvSpPr>
        <p:spPr>
          <a:xfrm>
            <a:off x="4297680" y="13716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E335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D2A57B1-CF90-493A-84DB-9DDB30444B6F}"/>
              </a:ext>
            </a:extLst>
          </p:cNvPr>
          <p:cNvSpPr txBox="1"/>
          <p:nvPr/>
        </p:nvSpPr>
        <p:spPr>
          <a:xfrm>
            <a:off x="4572000" y="18821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Fit the model to the feature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991FE1F-A601-23D9-EB22-47BC3E756A75}"/>
              </a:ext>
            </a:extLst>
          </p:cNvPr>
          <p:cNvSpPr txBox="1"/>
          <p:nvPr/>
        </p:nvSpPr>
        <p:spPr>
          <a:xfrm>
            <a:off x="4572000" y="2514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Multinomial or Bernoulli for words, Gaussian for continuous statistics. Combine them only when the features are independent.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Q3 card">
            <a:extLst>
              <a:ext uri="{FF2B5EF4-FFF2-40B4-BE49-F238E27FC236}">
                <a16:creationId xmlns:a16="http://schemas.microsoft.com/office/drawing/2014/main" id="{3D38836C-51AF-288E-2860-D9B8FF06EAB6}"/>
              </a:ext>
            </a:extLst>
          </p:cNvPr>
          <p:cNvSpPr/>
          <p:nvPr/>
        </p:nvSpPr>
        <p:spPr>
          <a:xfrm>
            <a:off x="8046720" y="137160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1E3350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922F3F6-264B-C54D-7CDD-AA93901F6C63}"/>
              </a:ext>
            </a:extLst>
          </p:cNvPr>
          <p:cNvSpPr txBox="1"/>
          <p:nvPr/>
        </p:nvSpPr>
        <p:spPr>
          <a:xfrm>
            <a:off x="8321040" y="187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and reward words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31F3EC7-28A9-F08A-FEB8-716A781BBAD3}"/>
              </a:ext>
            </a:extLst>
          </p:cNvPr>
          <p:cNvSpPr txBox="1"/>
          <p:nvPr/>
        </p:nvSpPr>
        <p:spPr>
          <a:xfrm>
            <a:off x="8321040" y="25146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 numbers, "claim" and "prize" flag spam. Spam written like chat is what still gets through.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69E54DD-285F-1E59-676D-62612A8F86F3}"/>
              </a:ext>
            </a:extLst>
          </p:cNvPr>
          <p:cNvSpPr txBox="1"/>
          <p:nvPr/>
        </p:nvSpPr>
        <p:spPr>
          <a:xfrm>
            <a:off x="548640" y="4023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17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D4E6BD0-3505-E36C-C105-FA91E6ED4FA7}"/>
              </a:ext>
            </a:extLst>
          </p:cNvPr>
          <p:cNvSpPr txBox="1"/>
          <p:nvPr/>
        </p:nvSpPr>
        <p:spPr>
          <a:xfrm>
            <a:off x="548640" y="44348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ham source hid its numbers behind &lt;#&gt;, so numbers look more spam-like here than on a real phone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 collected before 2011 (UK spam, Singapore ham)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 are over-confident; scores rank well but are not calibrated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E7CD2F7-05B0-EA81-E5A6-39F4451AAFB7}"/>
              </a:ext>
            </a:extLst>
          </p:cNvPr>
          <p:cNvSpPr txBox="1"/>
          <p:nvPr/>
        </p:nvSpPr>
        <p:spPr>
          <a:xfrm>
            <a:off x="6217920" y="4023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US" sz="17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8F8E57E-9503-5DFF-850E-4E7B3A9A9EB0}"/>
              </a:ext>
            </a:extLst>
          </p:cNvPr>
          <p:cNvSpPr txBox="1"/>
          <p:nvPr/>
        </p:nvSpPr>
        <p:spPr>
          <a:xfrm>
            <a:off x="6217920" y="44348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Retrain on recent spam such as parcel scams and short links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n-grams to catch tricks like "fr33"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 probabilities before choosing a threshold</a:t>
            </a:r>
          </a:p>
        </p:txBody>
      </p:sp>
      <p:sp>
        <p:nvSpPr>
          <p:cNvPr id="19" name="Slide Number Placeholder 0">
            <a:extLst>
              <a:ext uri="{FF2B5EF4-FFF2-40B4-BE49-F238E27FC236}">
                <a16:creationId xmlns:a16="http://schemas.microsoft.com/office/drawing/2014/main" id="{F344A6B7-5E3C-99B4-D9B8-66DFC0E02DB3}"/>
              </a:ext>
            </a:extLst>
          </p:cNvPr>
          <p:cNvSpPr txBox="1">
            <a:spLocks/>
          </p:cNvSpPr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47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998</Words>
  <Application>Microsoft Office PowerPoint</Application>
  <PresentationFormat>Widescreen</PresentationFormat>
  <Paragraphs>108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Catching SMS Spam with Naive Bayes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ARYAL</dc:creator>
  <cp:lastModifiedBy>PRASHANT ARYAL</cp:lastModifiedBy>
  <cp:revision>21</cp:revision>
  <dcterms:created xsi:type="dcterms:W3CDTF">2026-10-19T18:27:53Z</dcterms:created>
  <dcterms:modified xsi:type="dcterms:W3CDTF">2026-10-19T18:47:34Z</dcterms:modified>
</cp:coreProperties>
</file>